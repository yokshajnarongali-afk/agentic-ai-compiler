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Band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548640" y="800000"/>
            <a:ext cx="1110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 lang="en-US">
                <a:solidFill>
                  <a:srgbClr val="1E3A5F"/>
                </a:solidFill>
                <a:latin typeface="Calibri"/>
              </a:rPr>
              <a:t>AGentic_C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48640" y="1950000"/>
            <a:ext cx="1110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 lang="en-US">
                <a:solidFill>
                  <a:srgbClr val="475569"/>
                </a:solidFill>
                <a:latin typeface="Calibri"/>
              </a:rPr>
              <a:t>Agentic Compiler for High-Frequency Trading</a:t>
            </a:r>
          </a:p>
        </p:txBody>
      </p:sp>
      <p:sp>
        <p:nvSpPr>
          <p:cNvPr id="5" name="Div"/>
          <p:cNvSpPr/>
          <p:nvPr/>
        </p:nvSpPr>
        <p:spPr>
          <a:xfrm>
            <a:off x="3200400" y="2700000"/>
            <a:ext cx="5760720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Info1"/>
          <p:cNvSpPr txBox="1"/>
          <p:nvPr/>
        </p:nvSpPr>
        <p:spPr>
          <a:xfrm>
            <a:off x="548640" y="2800000"/>
            <a:ext cx="111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lang="en-US">
                <a:solidFill>
                  <a:srgbClr val="475569"/>
                </a:solidFill>
                <a:latin typeface="Calibri"/>
              </a:rPr>
              <a:t>Project-Based Lab (PBL) — Compiler Design</a:t>
            </a:r>
          </a:p>
        </p:txBody>
      </p:sp>
      <p:sp>
        <p:nvSpPr>
          <p:cNvPr id="7" name="Info2"/>
          <p:cNvSpPr txBox="1"/>
          <p:nvPr/>
        </p:nvSpPr>
        <p:spPr>
          <a:xfrm>
            <a:off x="548640" y="3200000"/>
            <a:ext cx="111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lang="en-US">
                <a:solidFill>
                  <a:srgbClr val="94A3B8"/>
                </a:solidFill>
                <a:latin typeface="Calibri"/>
              </a:rPr>
              <a:t>Department of Computer Science &amp; Engineering  |  NIT Warangal</a:t>
            </a:r>
          </a:p>
        </p:txBody>
      </p:sp>
      <p:sp>
        <p:nvSpPr>
          <p:cNvPr id="8" name="Info3"/>
          <p:cNvSpPr txBox="1"/>
          <p:nvPr/>
        </p:nvSpPr>
        <p:spPr>
          <a:xfrm>
            <a:off x="548640" y="3560000"/>
            <a:ext cx="111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lang="en-US">
                <a:solidFill>
                  <a:srgbClr val="94A3B8"/>
                </a:solidFill>
                <a:latin typeface="Calibri"/>
              </a:rPr>
              <a:t>Faculty Guide: Prof. E. Suresh Babu, Associate Professor</a:t>
            </a:r>
          </a:p>
        </p:txBody>
      </p:sp>
      <p:sp>
        <p:nvSpPr>
          <p:cNvPr id="9" name="Badge0"/>
          <p:cNvSpPr/>
          <p:nvPr/>
        </p:nvSpPr>
        <p:spPr>
          <a:xfrm>
            <a:off x="914400" y="4800000"/>
            <a:ext cx="2286000" cy="41148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>
            <a:noFill/>
          </a:ln>
        </p:spPr>
        <p:txBody>
          <a:bodyPr anchor="ctr">
            <a:spAutoFit/>
          </a:bodyPr>
          <a:lstStyle/>
          <a:p>
            <a:pPr algn="ctr"/>
            <a:r>
              <a:rPr sz="1200" b="1" lang="en-US">
                <a:solidFill>
                  <a:srgbClr val="FFFFFF"/>
                </a:solidFill>
                <a:latin typeface="Calibri"/>
              </a:rPr>
              <a:t>IR2Vec Encoder</a:t>
            </a:r>
          </a:p>
        </p:txBody>
      </p:sp>
      <p:sp>
        <p:nvSpPr>
          <p:cNvPr id="10" name="Badge1"/>
          <p:cNvSpPr/>
          <p:nvPr/>
        </p:nvSpPr>
        <p:spPr>
          <a:xfrm>
            <a:off x="3566160" y="4800000"/>
            <a:ext cx="2286000" cy="41148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>
            <a:noFill/>
          </a:ln>
        </p:spPr>
        <p:txBody>
          <a:bodyPr anchor="ctr">
            <a:spAutoFit/>
          </a:bodyPr>
          <a:lstStyle/>
          <a:p>
            <a:pPr algn="ctr"/>
            <a:r>
              <a:rPr sz="1200" b="1" lang="en-US">
                <a:solidFill>
                  <a:srgbClr val="FFFFFF"/>
                </a:solidFill>
                <a:latin typeface="Calibri"/>
              </a:rPr>
              <a:t>Phase-Order</a:t>
            </a:r>
          </a:p>
        </p:txBody>
      </p:sp>
      <p:sp>
        <p:nvSpPr>
          <p:cNvPr id="11" name="Badge2"/>
          <p:cNvSpPr/>
          <p:nvPr/>
        </p:nvSpPr>
        <p:spPr>
          <a:xfrm>
            <a:off x="6217920" y="4800000"/>
            <a:ext cx="2286000" cy="411480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>
            <a:noFill/>
          </a:ln>
        </p:spPr>
        <p:txBody>
          <a:bodyPr anchor="ctr">
            <a:spAutoFit/>
          </a:bodyPr>
          <a:lstStyle/>
          <a:p>
            <a:pPr algn="ctr"/>
            <a:r>
              <a:rPr sz="1200" b="1" lang="en-US">
                <a:solidFill>
                  <a:srgbClr val="FFFFFF"/>
                </a:solidFill>
                <a:latin typeface="Calibri"/>
              </a:rPr>
              <a:t>Anti-Pattern Detection</a:t>
            </a:r>
          </a:p>
        </p:txBody>
      </p:sp>
      <p:sp>
        <p:nvSpPr>
          <p:cNvPr id="12" name="Badge3"/>
          <p:cNvSpPr/>
          <p:nvPr/>
        </p:nvSpPr>
        <p:spPr>
          <a:xfrm>
            <a:off x="8869680" y="4800000"/>
            <a:ext cx="2286000" cy="411480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>
            <a:noFill/>
          </a:ln>
        </p:spPr>
        <p:txBody>
          <a:bodyPr anchor="ctr">
            <a:spAutoFit/>
          </a:bodyPr>
          <a:lstStyle/>
          <a:p>
            <a:pPr algn="ctr"/>
            <a:r>
              <a:rPr sz="1200" b="1" lang="en-US">
                <a:solidFill>
                  <a:srgbClr val="FFFFFF"/>
                </a:solidFill>
                <a:latin typeface="Calibri"/>
              </a:rPr>
              <a:t>Web Dashboard</a:t>
            </a:r>
          </a:p>
        </p:txBody>
      </p:sp>
      <p:sp>
        <p:nvSpPr>
          <p:cNvPr id="20" name="Footer"/>
          <p:cNvSpPr txBox="1"/>
          <p:nvPr/>
        </p:nvSpPr>
        <p:spPr>
          <a:xfrm>
            <a:off x="10800000" y="6706800"/>
            <a:ext cx="12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lang="en-US">
                <a:solidFill>
                  <a:srgbClr val="94A3B8"/>
                </a:solidFill>
                <a:latin typeface="Calibri"/>
              </a:rPr>
              <a:t>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457200" y="457200"/>
            <a:ext cx="54864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ectionLabel"/>
          <p:cNvSpPr txBox="1"/>
          <p:nvPr/>
        </p:nvSpPr>
        <p:spPr>
          <a:xfrm>
            <a:off x="548640" y="457200"/>
            <a:ext cx="40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lang="en-US">
                <a:solidFill>
                  <a:srgbClr val="2563EB"/>
                </a:solidFill>
                <a:latin typeface="Calibri"/>
              </a:rPr>
              <a:t>INTRODUCTION</a:t>
            </a:r>
          </a:p>
        </p:txBody>
      </p:sp>
      <p:sp>
        <p:nvSpPr>
          <p:cNvPr id="4" name="SlideTitle"/>
          <p:cNvSpPr txBox="1"/>
          <p:nvPr/>
        </p:nvSpPr>
        <p:spPr>
          <a:xfrm>
            <a:off x="548640" y="685800"/>
            <a:ext cx="1110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lang="en-US">
                <a:solidFill>
                  <a:srgbClr val="1E293B"/>
                </a:solidFill>
                <a:latin typeface="Calibri"/>
              </a:rPr>
              <a:t>Why Standard Compilers Fall Short in HFT</a:t>
            </a:r>
          </a:p>
        </p:txBody>
      </p:sp>
      <p:sp>
        <p:nvSpPr>
          <p:cNvPr id="5" name="TitleDivider"/>
          <p:cNvSpPr/>
          <p:nvPr/>
        </p:nvSpPr>
        <p:spPr>
          <a:xfrm>
            <a:off x="457200" y="1280160"/>
            <a:ext cx="112788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BoxLeft"/>
          <p:cNvSpPr/>
          <p:nvPr/>
        </p:nvSpPr>
        <p:spPr>
          <a:xfrm>
            <a:off x="457200" y="1420000"/>
            <a:ext cx="5440000" cy="510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LeftHdr"/>
          <p:cNvSpPr txBox="1"/>
          <p:nvPr/>
        </p:nvSpPr>
        <p:spPr>
          <a:xfrm>
            <a:off x="550000" y="1480000"/>
            <a:ext cx="5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lang="en-US">
                <a:solidFill>
                  <a:srgbClr val="DC2626"/>
                </a:solidFill>
                <a:latin typeface="Calibri"/>
              </a:rPr>
              <a:t>Limitations of Standard -O3</a:t>
            </a:r>
          </a:p>
        </p:txBody>
      </p:sp>
      <p:sp>
        <p:nvSpPr>
          <p:cNvPr id="8" name="LeftItem0"/>
          <p:cNvSpPr txBox="1"/>
          <p:nvPr/>
        </p:nvSpPr>
        <p:spPr>
          <a:xfrm>
            <a:off x="610000" y="1860000"/>
            <a:ext cx="5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 xml:space="preserve">  Tick-to-order latency target: under 2 microseconds</a:t>
            </a:r>
          </a:p>
        </p:txBody>
      </p:sp>
      <p:sp>
        <p:nvSpPr>
          <p:cNvPr id="9" name="LeftItem1"/>
          <p:cNvSpPr txBox="1"/>
          <p:nvPr/>
        </p:nvSpPr>
        <p:spPr>
          <a:xfrm>
            <a:off x="610000" y="2330000"/>
            <a:ext cx="5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 xml:space="preserve">  A 10 ns execution advantage translates directly to profit</a:t>
            </a:r>
          </a:p>
        </p:txBody>
      </p:sp>
      <p:sp>
        <p:nvSpPr>
          <p:cNvPr id="10" name="LeftItem2"/>
          <p:cNvSpPr txBox="1"/>
          <p:nvPr/>
        </p:nvSpPr>
        <p:spPr>
          <a:xfrm>
            <a:off x="610000" y="2800000"/>
            <a:ext cx="5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 xml:space="preserve">  clang -O3 applies a rigid, predefined pass sequence</a:t>
            </a:r>
          </a:p>
        </p:txBody>
      </p:sp>
      <p:sp>
        <p:nvSpPr>
          <p:cNvPr id="11" name="LeftItem3"/>
          <p:cNvSpPr txBox="1"/>
          <p:nvPr/>
        </p:nvSpPr>
        <p:spPr>
          <a:xfrm>
            <a:off x="610000" y="3270000"/>
            <a:ext cx="5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 xml:space="preserve">  No awareness of domain-specific HFT code patterns</a:t>
            </a:r>
          </a:p>
        </p:txBody>
      </p:sp>
      <p:sp>
        <p:nvSpPr>
          <p:cNvPr id="12" name="LeftItem4"/>
          <p:cNvSpPr txBox="1"/>
          <p:nvPr/>
        </p:nvSpPr>
        <p:spPr>
          <a:xfrm>
            <a:off x="610000" y="3740000"/>
            <a:ext cx="5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 xml:space="preserve">  Per-function nanosecond budget enforcement is absent</a:t>
            </a:r>
          </a:p>
        </p:txBody>
      </p:sp>
      <p:sp>
        <p:nvSpPr>
          <p:cNvPr id="13" name="LeftItem5"/>
          <p:cNvSpPr txBox="1"/>
          <p:nvPr/>
        </p:nvSpPr>
        <p:spPr>
          <a:xfrm>
            <a:off x="610000" y="4210000"/>
            <a:ext cx="5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 xml:space="preserve">  Opaque decision-making; no explainability layer</a:t>
            </a:r>
          </a:p>
        </p:txBody>
      </p:sp>
      <p:sp>
        <p:nvSpPr>
          <p:cNvPr id="16" name="BoxRight"/>
          <p:cNvSpPr/>
          <p:nvPr/>
        </p:nvSpPr>
        <p:spPr>
          <a:xfrm>
            <a:off x="6294000" y="1420000"/>
            <a:ext cx="5440000" cy="5100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RightHdr"/>
          <p:cNvSpPr txBox="1"/>
          <p:nvPr/>
        </p:nvSpPr>
        <p:spPr>
          <a:xfrm>
            <a:off x="6400000" y="1480000"/>
            <a:ext cx="5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lang="en-US">
                <a:solidFill>
                  <a:srgbClr val="16A34A"/>
                </a:solidFill>
                <a:latin typeface="Calibri"/>
              </a:rPr>
              <a:t>AGentic_C Approach</a:t>
            </a:r>
          </a:p>
        </p:txBody>
      </p:sp>
      <p:sp>
        <p:nvSpPr>
          <p:cNvPr id="18" name="RightItem0"/>
          <p:cNvSpPr txBox="1"/>
          <p:nvPr/>
        </p:nvSpPr>
        <p:spPr>
          <a:xfrm>
            <a:off x="6450000" y="1860000"/>
            <a:ext cx="5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 xml:space="preserve">  Dynamic, content-aware phase-order selection</a:t>
            </a:r>
          </a:p>
        </p:txBody>
      </p:sp>
      <p:sp>
        <p:nvSpPr>
          <p:cNvPr id="19" name="RightItem1"/>
          <p:cNvSpPr txBox="1"/>
          <p:nvPr/>
        </p:nvSpPr>
        <p:spPr>
          <a:xfrm>
            <a:off x="6450000" y="2330000"/>
            <a:ext cx="5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 xml:space="preserve">  Taxonomy of 10 HFT-specific latency anti-patterns</a:t>
            </a:r>
          </a:p>
        </p:txBody>
      </p:sp>
      <p:sp>
        <p:nvSpPr>
          <p:cNvPr id="20" name="RightItem2"/>
          <p:cNvSpPr txBox="1"/>
          <p:nvPr/>
        </p:nvSpPr>
        <p:spPr>
          <a:xfrm>
            <a:off x="6450000" y="2800000"/>
            <a:ext cx="5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 xml:space="preserve">  Configurable nanosecond budget per function</a:t>
            </a:r>
          </a:p>
        </p:txBody>
      </p:sp>
      <p:sp>
        <p:nvSpPr>
          <p:cNvPr id="21" name="RightItem3"/>
          <p:cNvSpPr txBox="1"/>
          <p:nvPr/>
        </p:nvSpPr>
        <p:spPr>
          <a:xfrm>
            <a:off x="6450000" y="3270000"/>
            <a:ext cx="5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 xml:space="preserve">  Automated retry mechanism (up to 3 iterations)</a:t>
            </a:r>
          </a:p>
        </p:txBody>
      </p:sp>
      <p:sp>
        <p:nvSpPr>
          <p:cNvPr id="22" name="RightItem4"/>
          <p:cNvSpPr txBox="1"/>
          <p:nvPr/>
        </p:nvSpPr>
        <p:spPr>
          <a:xfrm>
            <a:off x="6450000" y="3740000"/>
            <a:ext cx="5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 xml:space="preserve">  Natural-language explanations for each decision</a:t>
            </a:r>
          </a:p>
        </p:txBody>
      </p:sp>
      <p:sp>
        <p:nvSpPr>
          <p:cNvPr id="23" name="RightItem5"/>
          <p:cNvSpPr txBox="1"/>
          <p:nvPr/>
        </p:nvSpPr>
        <p:spPr>
          <a:xfrm>
            <a:off x="6450000" y="4210000"/>
            <a:ext cx="5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 xml:space="preserve">  Interactive real-time monitoring dashboard</a:t>
            </a:r>
          </a:p>
        </p:txBody>
      </p:sp>
      <p:sp>
        <p:nvSpPr>
          <p:cNvPr id="26" name="Footer"/>
          <p:cNvSpPr txBox="1"/>
          <p:nvPr/>
        </p:nvSpPr>
        <p:spPr>
          <a:xfrm>
            <a:off x="10800000" y="6706800"/>
            <a:ext cx="12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lang="en-US">
                <a:solidFill>
                  <a:srgbClr val="94A3B8"/>
                </a:solidFill>
                <a:latin typeface="Calibri"/>
              </a:rPr>
              <a:t>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457200" y="457200"/>
            <a:ext cx="54864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ectionLabel"/>
          <p:cNvSpPr txBox="1"/>
          <p:nvPr/>
        </p:nvSpPr>
        <p:spPr>
          <a:xfrm>
            <a:off x="548640" y="457200"/>
            <a:ext cx="40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lang="en-US">
                <a:solidFill>
                  <a:srgbClr val="2563EB"/>
                </a:solidFill>
                <a:latin typeface="Calibri"/>
              </a:rPr>
              <a:t>INTRODUCTION</a:t>
            </a:r>
          </a:p>
        </p:txBody>
      </p:sp>
      <p:sp>
        <p:nvSpPr>
          <p:cNvPr id="4" name="SlideTitle"/>
          <p:cNvSpPr txBox="1"/>
          <p:nvPr/>
        </p:nvSpPr>
        <p:spPr>
          <a:xfrm>
            <a:off x="548640" y="685800"/>
            <a:ext cx="1110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lang="en-US">
                <a:solidFill>
                  <a:srgbClr val="1E293B"/>
                </a:solidFill>
                <a:latin typeface="Calibri"/>
              </a:rPr>
              <a:t>Core Research Question &amp; Project Goals</a:t>
            </a:r>
          </a:p>
        </p:txBody>
      </p:sp>
      <p:sp>
        <p:nvSpPr>
          <p:cNvPr id="5" name="TitleDivider"/>
          <p:cNvSpPr/>
          <p:nvPr/>
        </p:nvSpPr>
        <p:spPr>
          <a:xfrm>
            <a:off x="457200" y="1280160"/>
            <a:ext cx="112788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QBox"/>
          <p:cNvSpPr/>
          <p:nvPr/>
        </p:nvSpPr>
        <p:spPr>
          <a:xfrm>
            <a:off x="457200" y="1420000"/>
            <a:ext cx="11278800" cy="10972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QText"/>
          <p:cNvSpPr txBox="1"/>
          <p:nvPr/>
        </p:nvSpPr>
        <p:spPr>
          <a:xfrm>
            <a:off x="640000" y="152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 lang="en-US">
                <a:solidFill>
                  <a:srgbClr val="1E3A5F"/>
                </a:solidFill>
                <a:latin typeface="Calibri"/>
              </a:rPr>
              <a:t>"Can an agentic compiler pipeline — combining adaptive phase ordering with</a:t>
            </a:r>
          </a:p>
          <a:p>
            <a:pPr algn="ctr"/>
            <a:r>
              <a:rPr sz="1500" b="0" i="1" lang="en-US">
                <a:solidFill>
                  <a:srgbClr val="1E3A5F"/>
                </a:solidFill>
                <a:latin typeface="Calibri"/>
              </a:rPr>
              <a:t>domain-specific anti-pattern resolution — surpass standard -O3 on HFT C/C++ workloads</a:t>
            </a:r>
          </a:p>
          <a:p>
            <a:pPr algn="ctr"/>
            <a:r>
              <a:rPr sz="1500" b="0" i="1" lang="en-US">
                <a:solidFill>
                  <a:srgbClr val="1E3A5F"/>
                </a:solidFill>
                <a:latin typeface="Calibri"/>
              </a:rPr>
              <a:t>when measured by estimated hot-path latency?"</a:t>
            </a:r>
          </a:p>
        </p:txBody>
      </p:sp>
      <p:sp>
        <p:nvSpPr>
          <p:cNvPr id="8" name="ObjHdr"/>
          <p:cNvSpPr txBox="1"/>
          <p:nvPr/>
        </p:nvSpPr>
        <p:spPr>
          <a:xfrm>
            <a:off x="457200" y="2700000"/>
            <a:ext cx="5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lang="en-US">
                <a:solidFill>
                  <a:srgbClr val="1E3A5F"/>
                </a:solidFill>
                <a:latin typeface="Calibri"/>
              </a:rPr>
              <a:t>Project Objectives</a:t>
            </a:r>
          </a:p>
        </p:txBody>
      </p:sp>
      <p:sp>
        <p:nvSpPr>
          <p:cNvPr id="9" name="Num0"/>
          <p:cNvSpPr/>
          <p:nvPr/>
        </p:nvSpPr>
        <p:spPr>
          <a:xfrm>
            <a:off x="457200" y="3100000"/>
            <a:ext cx="41148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Obj0"/>
          <p:cNvSpPr txBox="1"/>
          <p:nvPr/>
        </p:nvSpPr>
        <p:spPr>
          <a:xfrm>
            <a:off x="980000" y="3090000"/>
            <a:ext cx="108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lang="en-US">
                <a:solidFill>
                  <a:srgbClr val="1E293B"/>
                </a:solidFill>
                <a:latin typeface="Calibri"/>
              </a:rPr>
              <a:t>1.  Design an agent pipeline that classifies code functions as HOT or COLD based on execution frequency</a:t>
            </a:r>
          </a:p>
        </p:txBody>
      </p:sp>
      <p:sp>
        <p:nvSpPr>
          <p:cNvPr id="11" name="Num1"/>
          <p:cNvSpPr/>
          <p:nvPr/>
        </p:nvSpPr>
        <p:spPr>
          <a:xfrm>
            <a:off x="457200" y="3680000"/>
            <a:ext cx="41148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Obj1"/>
          <p:cNvSpPr txBox="1"/>
          <p:nvPr/>
        </p:nvSpPr>
        <p:spPr>
          <a:xfrm>
            <a:off x="980000" y="3670000"/>
            <a:ext cx="108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lang="en-US">
                <a:solidFill>
                  <a:srgbClr val="1E293B"/>
                </a:solidFill>
                <a:latin typeface="Calibri"/>
              </a:rPr>
              <a:t>2.  Identify and correct latency anti-patterns LAP-001 through LAP-010 on performance-critical paths</a:t>
            </a:r>
          </a:p>
        </p:txBody>
      </p:sp>
      <p:sp>
        <p:nvSpPr>
          <p:cNvPr id="13" name="Num2"/>
          <p:cNvSpPr/>
          <p:nvPr/>
        </p:nvSpPr>
        <p:spPr>
          <a:xfrm>
            <a:off x="457200" y="4260000"/>
            <a:ext cx="41148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Obj2"/>
          <p:cNvSpPr txBox="1"/>
          <p:nvPr/>
        </p:nvSpPr>
        <p:spPr>
          <a:xfrm>
            <a:off x="980000" y="4250000"/>
            <a:ext cx="108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lang="en-US">
                <a:solidFill>
                  <a:srgbClr val="1E293B"/>
                </a:solidFill>
                <a:latin typeface="Calibri"/>
              </a:rPr>
              <a:t>3.  Explore AutoPhase-inspired pass sequencing without requiring reinforcement learning training</a:t>
            </a:r>
          </a:p>
        </p:txBody>
      </p:sp>
      <p:sp>
        <p:nvSpPr>
          <p:cNvPr id="15" name="Num3"/>
          <p:cNvSpPr/>
          <p:nvPr/>
        </p:nvSpPr>
        <p:spPr>
          <a:xfrm>
            <a:off x="457200" y="4840000"/>
            <a:ext cx="41148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Obj3"/>
          <p:cNvSpPr txBox="1"/>
          <p:nvPr/>
        </p:nvSpPr>
        <p:spPr>
          <a:xfrm>
            <a:off x="980000" y="4830000"/>
            <a:ext cx="108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lang="en-US">
                <a:solidFill>
                  <a:srgbClr val="1E293B"/>
                </a:solidFill>
                <a:latin typeface="Calibri"/>
              </a:rPr>
              <a:t>4.  Quantify latency gains against -O3 using a calibrated instruction cost model</a:t>
            </a:r>
          </a:p>
        </p:txBody>
      </p:sp>
      <p:sp>
        <p:nvSpPr>
          <p:cNvPr id="17" name="Num4"/>
          <p:cNvSpPr/>
          <p:nvPr/>
        </p:nvSpPr>
        <p:spPr>
          <a:xfrm>
            <a:off x="457200" y="5420000"/>
            <a:ext cx="41148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Obj4"/>
          <p:cNvSpPr txBox="1"/>
          <p:nvPr/>
        </p:nvSpPr>
        <p:spPr>
          <a:xfrm>
            <a:off x="980000" y="5410000"/>
            <a:ext cx="108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lang="en-US">
                <a:solidFill>
                  <a:srgbClr val="1E293B"/>
                </a:solidFill>
                <a:latin typeface="Calibri"/>
              </a:rPr>
              <a:t>5.  Generate human-readable justifications for every optimisation applied by the system</a:t>
            </a:r>
          </a:p>
        </p:txBody>
      </p:sp>
      <p:sp>
        <p:nvSpPr>
          <p:cNvPr id="20" name="Footer"/>
          <p:cNvSpPr txBox="1"/>
          <p:nvPr/>
        </p:nvSpPr>
        <p:spPr>
          <a:xfrm>
            <a:off x="10800000" y="6706800"/>
            <a:ext cx="12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lang="en-US">
                <a:solidFill>
                  <a:srgbClr val="94A3B8"/>
                </a:solidFill>
                <a:latin typeface="Calibri"/>
              </a:rPr>
              <a:t>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457200" y="457200"/>
            <a:ext cx="54864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ectionLabel"/>
          <p:cNvSpPr txBox="1"/>
          <p:nvPr/>
        </p:nvSpPr>
        <p:spPr>
          <a:xfrm>
            <a:off x="548640" y="457200"/>
            <a:ext cx="40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lang="en-US">
                <a:solidFill>
                  <a:srgbClr val="2563EB"/>
                </a:solidFill>
                <a:latin typeface="Calibri"/>
              </a:rPr>
              <a:t>BACKGROUND</a:t>
            </a:r>
          </a:p>
        </p:txBody>
      </p:sp>
      <p:sp>
        <p:nvSpPr>
          <p:cNvPr id="4" name="SlideTitle"/>
          <p:cNvSpPr txBox="1"/>
          <p:nvPr/>
        </p:nvSpPr>
        <p:spPr>
          <a:xfrm>
            <a:off x="548640" y="685800"/>
            <a:ext cx="1110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lang="en-US">
                <a:solidFill>
                  <a:srgbClr val="1E293B"/>
                </a:solidFill>
                <a:latin typeface="Calibri"/>
              </a:rPr>
              <a:t>Related Work &amp; Positioning</a:t>
            </a:r>
          </a:p>
        </p:txBody>
      </p:sp>
      <p:sp>
        <p:nvSpPr>
          <p:cNvPr id="5" name="TitleDivider"/>
          <p:cNvSpPr/>
          <p:nvPr/>
        </p:nvSpPr>
        <p:spPr>
          <a:xfrm>
            <a:off x="457200" y="1280160"/>
            <a:ext cx="112788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Card0"/>
          <p:cNvSpPr/>
          <p:nvPr/>
        </p:nvSpPr>
        <p:spPr>
          <a:xfrm>
            <a:off x="457200" y="1430000"/>
            <a:ext cx="2100000" cy="280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CardTop0"/>
          <p:cNvSpPr/>
          <p:nvPr/>
        </p:nvSpPr>
        <p:spPr>
          <a:xfrm>
            <a:off x="457200" y="1430000"/>
            <a:ext cx="2100000" cy="274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CardTxt0"/>
          <p:cNvSpPr txBox="1"/>
          <p:nvPr/>
        </p:nvSpPr>
        <p:spPr>
          <a:xfrm>
            <a:off x="557200" y="1750000"/>
            <a:ext cx="1900000" cy="2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lang="en-US">
                <a:solidFill>
                  <a:srgbClr val="1E3A5F"/>
                </a:solidFill>
                <a:latin typeface="Calibri"/>
              </a:rPr>
              <a:t>AutoPhase [2019]</a:t>
            </a:r>
          </a:p>
          <a:p>
            <a:pPr algn="l"/>
          </a:p>
          <a:p>
            <a:pPr algn="l"/>
            <a:r>
              <a:rPr sz="1200" b="0" i="0" lang="en-US">
                <a:solidFill>
                  <a:srgbClr val="1E293B"/>
                </a:solidFill>
                <a:latin typeface="Calibri"/>
              </a:rPr>
              <a:t>RL selects LLVM pass sequences; AGentic_C adapts the phase-exploration concept without requiring training data.</a:t>
            </a:r>
          </a:p>
        </p:txBody>
      </p:sp>
      <p:sp>
        <p:nvSpPr>
          <p:cNvPr id="9" name="Card1"/>
          <p:cNvSpPr/>
          <p:nvPr/>
        </p:nvSpPr>
        <p:spPr>
          <a:xfrm>
            <a:off x="2677200" y="1430000"/>
            <a:ext cx="2100000" cy="280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CardTop1"/>
          <p:cNvSpPr/>
          <p:nvPr/>
        </p:nvSpPr>
        <p:spPr>
          <a:xfrm>
            <a:off x="2677200" y="1430000"/>
            <a:ext cx="2100000" cy="27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CardTxt1"/>
          <p:cNvSpPr txBox="1"/>
          <p:nvPr/>
        </p:nvSpPr>
        <p:spPr>
          <a:xfrm>
            <a:off x="2777200" y="1750000"/>
            <a:ext cx="1900000" cy="2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lang="en-US">
                <a:solidFill>
                  <a:srgbClr val="1E3A5F"/>
                </a:solidFill>
                <a:latin typeface="Calibri"/>
              </a:rPr>
              <a:t>MLGO [2021]</a:t>
            </a:r>
          </a:p>
          <a:p>
            <a:pPr algn="l"/>
          </a:p>
          <a:p>
            <a:pPr algn="l"/>
            <a:r>
              <a:rPr sz="1200" b="0" i="0" lang="en-US">
                <a:solidFill>
                  <a:srgbClr val="1E293B"/>
                </a:solidFill>
                <a:latin typeface="Calibri"/>
              </a:rPr>
              <a:t>ML-guided inlining inside LLVM; AGentic_C employs heuristic inlining priority rules instead.</a:t>
            </a:r>
          </a:p>
        </p:txBody>
      </p:sp>
      <p:sp>
        <p:nvSpPr>
          <p:cNvPr id="12" name="Card2"/>
          <p:cNvSpPr/>
          <p:nvPr/>
        </p:nvSpPr>
        <p:spPr>
          <a:xfrm>
            <a:off x="4897200" y="1430000"/>
            <a:ext cx="2100000" cy="280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CardTop2"/>
          <p:cNvSpPr/>
          <p:nvPr/>
        </p:nvSpPr>
        <p:spPr>
          <a:xfrm>
            <a:off x="4897200" y="1430000"/>
            <a:ext cx="2100000" cy="274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ardTxt2"/>
          <p:cNvSpPr txBox="1"/>
          <p:nvPr/>
        </p:nvSpPr>
        <p:spPr>
          <a:xfrm>
            <a:off x="4997200" y="1750000"/>
            <a:ext cx="1900000" cy="2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lang="en-US">
                <a:solidFill>
                  <a:srgbClr val="1E3A5F"/>
                </a:solidFill>
                <a:latin typeface="Calibri"/>
              </a:rPr>
              <a:t>CompilerGym [2021]</a:t>
            </a:r>
          </a:p>
          <a:p>
            <a:pPr algn="l"/>
          </a:p>
          <a:p>
            <a:pPr algn="l"/>
            <a:r>
              <a:rPr sz="1200" b="0" i="0" lang="en-US">
                <a:solidFill>
                  <a:srgbClr val="1E293B"/>
                </a:solidFill>
                <a:latin typeface="Calibri"/>
              </a:rPr>
              <a:t>Provides an RL environment for pass tuning; AGentic_C wraps the same idea with an HFT-specific reward signal.</a:t>
            </a:r>
          </a:p>
        </p:txBody>
      </p:sp>
      <p:sp>
        <p:nvSpPr>
          <p:cNvPr id="15" name="Card3"/>
          <p:cNvSpPr/>
          <p:nvPr/>
        </p:nvSpPr>
        <p:spPr>
          <a:xfrm>
            <a:off x="7117200" y="1430000"/>
            <a:ext cx="2100000" cy="280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CardTop3"/>
          <p:cNvSpPr/>
          <p:nvPr/>
        </p:nvSpPr>
        <p:spPr>
          <a:xfrm>
            <a:off x="7117200" y="1430000"/>
            <a:ext cx="2100000" cy="274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CardTxt3"/>
          <p:cNvSpPr txBox="1"/>
          <p:nvPr/>
        </p:nvSpPr>
        <p:spPr>
          <a:xfrm>
            <a:off x="7217200" y="1750000"/>
            <a:ext cx="1900000" cy="2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lang="en-US">
                <a:solidFill>
                  <a:srgbClr val="1E3A5F"/>
                </a:solidFill>
                <a:latin typeface="Calibri"/>
              </a:rPr>
              <a:t>AlphaDev [2023]</a:t>
            </a:r>
          </a:p>
          <a:p>
            <a:pPr algn="l"/>
          </a:p>
          <a:p>
            <a:pPr algn="l"/>
            <a:r>
              <a:rPr sz="1200" b="0" i="0" lang="en-US">
                <a:solidFill>
                  <a:srgbClr val="1E293B"/>
                </a:solidFill>
                <a:latin typeface="Calibri"/>
              </a:rPr>
              <a:t>Discovers novel sorting algorithms via RL; inspires AGentic_C's adaptive optimisation philosophy.</a:t>
            </a:r>
          </a:p>
        </p:txBody>
      </p:sp>
      <p:sp>
        <p:nvSpPr>
          <p:cNvPr id="18" name="Card4"/>
          <p:cNvSpPr/>
          <p:nvPr/>
        </p:nvSpPr>
        <p:spPr>
          <a:xfrm>
            <a:off x="9337200" y="1430000"/>
            <a:ext cx="2100000" cy="280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CardTop4"/>
          <p:cNvSpPr/>
          <p:nvPr/>
        </p:nvSpPr>
        <p:spPr>
          <a:xfrm>
            <a:off x="9337200" y="1430000"/>
            <a:ext cx="2100000" cy="274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CardTxt4"/>
          <p:cNvSpPr txBox="1"/>
          <p:nvPr/>
        </p:nvSpPr>
        <p:spPr>
          <a:xfrm>
            <a:off x="9437200" y="1750000"/>
            <a:ext cx="1900000" cy="2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lang="en-US">
                <a:solidFill>
                  <a:srgbClr val="1E3A5F"/>
                </a:solidFill>
                <a:latin typeface="Calibri"/>
              </a:rPr>
              <a:t>IR2Vec [2019]</a:t>
            </a:r>
          </a:p>
          <a:p>
            <a:pPr algn="l"/>
          </a:p>
          <a:p>
            <a:pPr algn="l"/>
            <a:r>
              <a:rPr sz="1200" b="0" i="0" lang="en-US">
                <a:solidFill>
                  <a:srgbClr val="1E293B"/>
                </a:solidFill>
                <a:latin typeface="Calibri"/>
              </a:rPr>
              <a:t>Generates dense IR embeddings via flow analysis; AGentic_C implements a lightweight 64-dimension static approximation.</a:t>
            </a:r>
          </a:p>
        </p:txBody>
      </p:sp>
      <p:sp>
        <p:nvSpPr>
          <p:cNvPr id="26" name="AdvBox"/>
          <p:cNvSpPr/>
          <p:nvPr/>
        </p:nvSpPr>
        <p:spPr>
          <a:xfrm>
            <a:off x="457200" y="4500000"/>
            <a:ext cx="11278800" cy="190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AdvHdr"/>
          <p:cNvSpPr txBox="1"/>
          <p:nvPr/>
        </p:nvSpPr>
        <p:spPr>
          <a:xfrm>
            <a:off x="640000" y="4580000"/>
            <a:ext cx="110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lang="en-US">
                <a:solidFill>
                  <a:srgbClr val="2563EB"/>
                </a:solidFill>
                <a:latin typeface="Calibri"/>
              </a:rPr>
              <a:t>AGentic_C Differentiator:</a:t>
            </a:r>
          </a:p>
        </p:txBody>
      </p:sp>
      <p:sp>
        <p:nvSpPr>
          <p:cNvPr id="28" name="AdvTxt"/>
          <p:cNvSpPr txBox="1"/>
          <p:nvPr/>
        </p:nvSpPr>
        <p:spPr>
          <a:xfrm>
            <a:off x="640000" y="495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 lang="en-US">
                <a:solidFill>
                  <a:srgbClr val="1E293B"/>
                </a:solidFill>
                <a:latin typeface="Calibri"/>
              </a:rPr>
              <a:t>Uniquely integrates HFT domain expertise — an anti-pattern taxonomy with nanosecond budgets — into AutoPhase-style sequence exploration, requiring no GPU, no RL training data, and no compiler back-end. Runs on any standard Python environment.</a:t>
            </a:r>
          </a:p>
        </p:txBody>
      </p:sp>
      <p:sp>
        <p:nvSpPr>
          <p:cNvPr id="31" name="Footer"/>
          <p:cNvSpPr txBox="1"/>
          <p:nvPr/>
        </p:nvSpPr>
        <p:spPr>
          <a:xfrm>
            <a:off x="10800000" y="6706800"/>
            <a:ext cx="12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lang="en-US">
                <a:solidFill>
                  <a:srgbClr val="94A3B8"/>
                </a:solidFill>
                <a:latin typeface="Calibri"/>
              </a:rPr>
              <a:t>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457200" y="457200"/>
            <a:ext cx="54864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ectionLabel"/>
          <p:cNvSpPr txBox="1"/>
          <p:nvPr/>
        </p:nvSpPr>
        <p:spPr>
          <a:xfrm>
            <a:off x="548640" y="457200"/>
            <a:ext cx="40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lang="en-US">
                <a:solidFill>
                  <a:srgbClr val="2563EB"/>
                </a:solidFill>
                <a:latin typeface="Calibri"/>
              </a:rPr>
              <a:t>APPROACH</a:t>
            </a:r>
          </a:p>
        </p:txBody>
      </p:sp>
      <p:sp>
        <p:nvSpPr>
          <p:cNvPr id="4" name="SlideTitle"/>
          <p:cNvSpPr txBox="1"/>
          <p:nvPr/>
        </p:nvSpPr>
        <p:spPr>
          <a:xfrm>
            <a:off x="548640" y="685800"/>
            <a:ext cx="1110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lang="en-US">
                <a:solidFill>
                  <a:srgbClr val="1E293B"/>
                </a:solidFill>
                <a:latin typeface="Calibri"/>
              </a:rPr>
              <a:t>System Architecture — Multi-Agent Pipeline</a:t>
            </a:r>
          </a:p>
        </p:txBody>
      </p:sp>
      <p:sp>
        <p:nvSpPr>
          <p:cNvPr id="5" name="TitleDivider"/>
          <p:cNvSpPr/>
          <p:nvPr/>
        </p:nvSpPr>
        <p:spPr>
          <a:xfrm>
            <a:off x="457200" y="1280160"/>
            <a:ext cx="112788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tage0"/>
          <p:cNvSpPr/>
          <p:nvPr/>
        </p:nvSpPr>
        <p:spPr>
          <a:xfrm>
            <a:off x="457200" y="1500000"/>
            <a:ext cx="1800000" cy="90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StageT0"/>
          <p:cNvSpPr txBox="1"/>
          <p:nvPr/>
        </p:nvSpPr>
        <p:spPr>
          <a:xfrm>
            <a:off x="537200" y="1580000"/>
            <a:ext cx="164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lang="en-US">
                <a:solidFill>
                  <a:srgbClr val="FFFFFF"/>
                </a:solidFill>
                <a:latin typeface="Calibri"/>
              </a:rPr>
              <a:t>[1] Clang</a:t>
            </a:r>
          </a:p>
        </p:txBody>
      </p:sp>
      <p:sp>
        <p:nvSpPr>
          <p:cNvPr id="8" name="StageD0"/>
          <p:cNvSpPr txBox="1"/>
          <p:nvPr/>
        </p:nvSpPr>
        <p:spPr>
          <a:xfrm>
            <a:off x="537200" y="1980000"/>
            <a:ext cx="164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lang="en-US">
                <a:solidFill>
                  <a:srgbClr val="E2E8F0"/>
                </a:solidFill>
                <a:latin typeface="Calibri"/>
              </a:rPr>
              <a:t>C++ → LLVM IR</a:t>
            </a:r>
          </a:p>
        </p:txBody>
      </p:sp>
      <p:sp>
        <p:nvSpPr>
          <p:cNvPr id="9" name="Stage1"/>
          <p:cNvSpPr/>
          <p:nvPr/>
        </p:nvSpPr>
        <p:spPr>
          <a:xfrm>
            <a:off x="2337200" y="1500000"/>
            <a:ext cx="1800000" cy="90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StageT1"/>
          <p:cNvSpPr txBox="1"/>
          <p:nvPr/>
        </p:nvSpPr>
        <p:spPr>
          <a:xfrm>
            <a:off x="2417200" y="1580000"/>
            <a:ext cx="164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lang="en-US">
                <a:solidFill>
                  <a:srgbClr val="FFFFFF"/>
                </a:solidFill>
                <a:latin typeface="Calibri"/>
              </a:rPr>
              <a:t>[2] Boss Agent</a:t>
            </a:r>
          </a:p>
        </p:txBody>
      </p:sp>
      <p:sp>
        <p:nvSpPr>
          <p:cNvPr id="11" name="StageD1"/>
          <p:cNvSpPr txBox="1"/>
          <p:nvPr/>
        </p:nvSpPr>
        <p:spPr>
          <a:xfrm>
            <a:off x="2417200" y="1980000"/>
            <a:ext cx="164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lang="en-US">
                <a:solidFill>
                  <a:srgbClr val="E2E8F0"/>
                </a:solidFill>
                <a:latin typeface="Calibri"/>
              </a:rPr>
              <a:t>IR2Vec + HotnessScorer</a:t>
            </a:r>
          </a:p>
        </p:txBody>
      </p:sp>
      <p:sp>
        <p:nvSpPr>
          <p:cNvPr id="12" name="Stage2"/>
          <p:cNvSpPr/>
          <p:nvPr/>
        </p:nvSpPr>
        <p:spPr>
          <a:xfrm>
            <a:off x="4217200" y="1500000"/>
            <a:ext cx="1800000" cy="90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tageT2"/>
          <p:cNvSpPr txBox="1"/>
          <p:nvPr/>
        </p:nvSpPr>
        <p:spPr>
          <a:xfrm>
            <a:off x="4297200" y="1580000"/>
            <a:ext cx="164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lang="en-US">
                <a:solidFill>
                  <a:srgbClr val="FFFFFF"/>
                </a:solidFill>
                <a:latin typeface="Calibri"/>
              </a:rPr>
              <a:t>[3] Fixer Agent</a:t>
            </a:r>
          </a:p>
        </p:txBody>
      </p:sp>
      <p:sp>
        <p:nvSpPr>
          <p:cNvPr id="14" name="StageD2"/>
          <p:cNvSpPr txBox="1"/>
          <p:nvPr/>
        </p:nvSpPr>
        <p:spPr>
          <a:xfrm>
            <a:off x="4297200" y="1980000"/>
            <a:ext cx="164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lang="en-US">
                <a:solidFill>
                  <a:srgbClr val="E2E8F0"/>
                </a:solidFill>
                <a:latin typeface="Calibri"/>
              </a:rPr>
              <a:t>LAP-001–010 Detection</a:t>
            </a:r>
          </a:p>
        </p:txBody>
      </p:sp>
      <p:sp>
        <p:nvSpPr>
          <p:cNvPr id="15" name="Stage3"/>
          <p:cNvSpPr/>
          <p:nvPr/>
        </p:nvSpPr>
        <p:spPr>
          <a:xfrm>
            <a:off x="6097200" y="1500000"/>
            <a:ext cx="1800000" cy="900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StageT3"/>
          <p:cNvSpPr txBox="1"/>
          <p:nvPr/>
        </p:nvSpPr>
        <p:spPr>
          <a:xfrm>
            <a:off x="6177200" y="1580000"/>
            <a:ext cx="164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lang="en-US">
                <a:solidFill>
                  <a:srgbClr val="FFFFFF"/>
                </a:solidFill>
                <a:latin typeface="Calibri"/>
              </a:rPr>
              <a:t>[4] IR Tuner</a:t>
            </a:r>
          </a:p>
        </p:txBody>
      </p:sp>
      <p:sp>
        <p:nvSpPr>
          <p:cNvPr id="17" name="StageD3"/>
          <p:cNvSpPr txBox="1"/>
          <p:nvPr/>
        </p:nvSpPr>
        <p:spPr>
          <a:xfrm>
            <a:off x="6177200" y="1980000"/>
            <a:ext cx="164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lang="en-US">
                <a:solidFill>
                  <a:srgbClr val="E2E8F0"/>
                </a:solidFill>
                <a:latin typeface="Calibri"/>
              </a:rPr>
              <a:t>PhaseOrderOptimiser</a:t>
            </a:r>
          </a:p>
        </p:txBody>
      </p:sp>
      <p:sp>
        <p:nvSpPr>
          <p:cNvPr id="18" name="Stage4"/>
          <p:cNvSpPr/>
          <p:nvPr/>
        </p:nvSpPr>
        <p:spPr>
          <a:xfrm>
            <a:off x="7977200" y="1500000"/>
            <a:ext cx="1800000" cy="90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tageT4"/>
          <p:cNvSpPr txBox="1"/>
          <p:nvPr/>
        </p:nvSpPr>
        <p:spPr>
          <a:xfrm>
            <a:off x="8057200" y="1580000"/>
            <a:ext cx="164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lang="en-US">
                <a:solidFill>
                  <a:srgbClr val="FFFFFF"/>
                </a:solidFill>
                <a:latin typeface="Calibri"/>
              </a:rPr>
              <a:t>[5] HW Tuner</a:t>
            </a:r>
          </a:p>
        </p:txBody>
      </p:sp>
      <p:sp>
        <p:nvSpPr>
          <p:cNvPr id="20" name="StageD4"/>
          <p:cNvSpPr txBox="1"/>
          <p:nvPr/>
        </p:nvSpPr>
        <p:spPr>
          <a:xfrm>
            <a:off x="8057200" y="1980000"/>
            <a:ext cx="164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lang="en-US">
                <a:solidFill>
                  <a:srgbClr val="E2E8F0"/>
                </a:solidFill>
                <a:latin typeface="Calibri"/>
              </a:rPr>
              <a:t>NEON/AVX2 + Timing</a:t>
            </a:r>
          </a:p>
        </p:txBody>
      </p:sp>
      <p:sp>
        <p:nvSpPr>
          <p:cNvPr id="21" name="Stage5"/>
          <p:cNvSpPr/>
          <p:nvPr/>
        </p:nvSpPr>
        <p:spPr>
          <a:xfrm>
            <a:off x="9857200" y="1500000"/>
            <a:ext cx="1800000" cy="90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StageT5"/>
          <p:cNvSpPr txBox="1"/>
          <p:nvPr/>
        </p:nvSpPr>
        <p:spPr>
          <a:xfrm>
            <a:off x="9937200" y="1580000"/>
            <a:ext cx="164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lang="en-US">
                <a:solidFill>
                  <a:srgbClr val="FFFFFF"/>
                </a:solidFill>
                <a:latin typeface="Calibri"/>
              </a:rPr>
              <a:t>[6] Reward Store</a:t>
            </a:r>
          </a:p>
        </p:txBody>
      </p:sp>
      <p:sp>
        <p:nvSpPr>
          <p:cNvPr id="23" name="StageD5"/>
          <p:cNvSpPr txBox="1"/>
          <p:nvPr/>
        </p:nvSpPr>
        <p:spPr>
          <a:xfrm>
            <a:off x="9937200" y="1980000"/>
            <a:ext cx="164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lang="en-US">
                <a:solidFill>
                  <a:srgbClr val="E2E8F0"/>
                </a:solidFill>
                <a:latin typeface="Calibri"/>
              </a:rPr>
              <a:t>5-Component Score</a:t>
            </a:r>
          </a:p>
        </p:txBody>
      </p:sp>
      <p:sp>
        <p:nvSpPr>
          <p:cNvPr id="31" name="Note"/>
          <p:cNvSpPr txBox="1"/>
          <p:nvPr/>
        </p:nvSpPr>
        <p:spPr>
          <a:xfrm>
            <a:off x="457200" y="2560000"/>
            <a:ext cx="11278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lang="en-US">
                <a:solidFill>
                  <a:srgbClr val="475569"/>
                </a:solidFill>
                <a:latin typeface="Calibri"/>
              </a:rPr>
              <a:t>All pipeline modules are independently testable with clearly defined input/output contracts.</a:t>
            </a:r>
          </a:p>
        </p:txBody>
      </p:sp>
      <p:sp>
        <p:nvSpPr>
          <p:cNvPr id="36" name="Dot0"/>
          <p:cNvSpPr/>
          <p:nvPr/>
        </p:nvSpPr>
        <p:spPr>
          <a:xfrm>
            <a:off x="457200" y="3100000"/>
            <a:ext cx="36576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Path0"/>
          <p:cNvSpPr txBox="1"/>
          <p:nvPr/>
        </p:nvSpPr>
        <p:spPr>
          <a:xfrm>
            <a:off x="580000" y="3060000"/>
            <a:ext cx="110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 lang="en-US">
                <a:solidFill>
                  <a:srgbClr val="1E293B"/>
                </a:solidFill>
                <a:latin typeface="Calibri"/>
              </a:rPr>
              <a:t>HOT path: Fixer Agent → IR Tuner (Phase-Order) → HW Tuner → Retry Loop</a:t>
            </a:r>
          </a:p>
        </p:txBody>
      </p:sp>
      <p:sp>
        <p:nvSpPr>
          <p:cNvPr id="37" name="Dot1"/>
          <p:cNvSpPr/>
          <p:nvPr/>
        </p:nvSpPr>
        <p:spPr>
          <a:xfrm>
            <a:off x="457200" y="3700000"/>
            <a:ext cx="36576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Path1"/>
          <p:cNvSpPr txBox="1"/>
          <p:nvPr/>
        </p:nvSpPr>
        <p:spPr>
          <a:xfrm>
            <a:off x="580000" y="3660000"/>
            <a:ext cx="110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 lang="en-US">
                <a:solidFill>
                  <a:srgbClr val="1E293B"/>
                </a:solidFill>
                <a:latin typeface="Calibri"/>
              </a:rPr>
              <a:t>COLD path: IR Tuner operates in general mode without budget enforcement</a:t>
            </a:r>
          </a:p>
        </p:txBody>
      </p:sp>
      <p:sp>
        <p:nvSpPr>
          <p:cNvPr id="38" name="Dot2"/>
          <p:cNvSpPr/>
          <p:nvPr/>
        </p:nvSpPr>
        <p:spPr>
          <a:xfrm>
            <a:off x="457200" y="4300000"/>
            <a:ext cx="36576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Path2"/>
          <p:cNvSpPr txBox="1"/>
          <p:nvPr/>
        </p:nvSpPr>
        <p:spPr>
          <a:xfrm>
            <a:off x="580000" y="4260000"/>
            <a:ext cx="110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 lang="en-US">
                <a:solidFill>
                  <a:srgbClr val="1E293B"/>
                </a:solidFill>
                <a:latin typeface="Calibri"/>
              </a:rPr>
              <a:t>Retry: Boss Agent re-directs IR Tuner with tighter constraints (max 3 cycles)</a:t>
            </a:r>
          </a:p>
        </p:txBody>
      </p:sp>
      <p:sp>
        <p:nvSpPr>
          <p:cNvPr id="46" name="Footer"/>
          <p:cNvSpPr txBox="1"/>
          <p:nvPr/>
        </p:nvSpPr>
        <p:spPr>
          <a:xfrm>
            <a:off x="10800000" y="6706800"/>
            <a:ext cx="12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lang="en-US">
                <a:solidFill>
                  <a:srgbClr val="94A3B8"/>
                </a:solidFill>
                <a:latin typeface="Calibri"/>
              </a:rPr>
              <a:t>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457200" y="457200"/>
            <a:ext cx="54864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ectionLabel"/>
          <p:cNvSpPr txBox="1"/>
          <p:nvPr/>
        </p:nvSpPr>
        <p:spPr>
          <a:xfrm>
            <a:off x="548640" y="457200"/>
            <a:ext cx="40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lang="en-US">
                <a:solidFill>
                  <a:srgbClr val="2563EB"/>
                </a:solidFill>
                <a:latin typeface="Calibri"/>
              </a:rPr>
              <a:t>APPROACH</a:t>
            </a:r>
          </a:p>
        </p:txBody>
      </p:sp>
      <p:sp>
        <p:nvSpPr>
          <p:cNvPr id="4" name="SlideTitle"/>
          <p:cNvSpPr txBox="1"/>
          <p:nvPr/>
        </p:nvSpPr>
        <p:spPr>
          <a:xfrm>
            <a:off x="548640" y="685800"/>
            <a:ext cx="1110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lang="en-US">
                <a:solidFill>
                  <a:srgbClr val="1E293B"/>
                </a:solidFill>
                <a:latin typeface="Calibri"/>
              </a:rPr>
              <a:t>IR2Vec Encoder — 64-Dimensional IR Representation</a:t>
            </a:r>
          </a:p>
        </p:txBody>
      </p:sp>
      <p:sp>
        <p:nvSpPr>
          <p:cNvPr id="5" name="TitleDivider"/>
          <p:cNvSpPr/>
          <p:nvPr/>
        </p:nvSpPr>
        <p:spPr>
          <a:xfrm>
            <a:off x="457200" y="1280160"/>
            <a:ext cx="112788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G0Box"/>
          <p:cNvSpPr/>
          <p:nvPr/>
        </p:nvSpPr>
        <p:spPr>
          <a:xfrm>
            <a:off x="457200" y="1500000"/>
            <a:ext cx="5440000" cy="185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G0Tag"/>
          <p:cNvSpPr/>
          <p:nvPr/>
        </p:nvSpPr>
        <p:spPr>
          <a:xfrm>
            <a:off x="457200" y="1500000"/>
            <a:ext cx="5440000" cy="31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G0Hdr"/>
          <p:cNvSpPr txBox="1"/>
          <p:nvPr/>
        </p:nvSpPr>
        <p:spPr>
          <a:xfrm>
            <a:off x="577200" y="1860000"/>
            <a:ext cx="51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lang="en-US">
                <a:solidFill>
                  <a:srgbClr val="1E3A5F"/>
                </a:solidFill>
                <a:latin typeface="Calibri"/>
              </a:rPr>
              <a:t>Dims 0–33  —  Instruction Frequency</a:t>
            </a:r>
          </a:p>
        </p:txBody>
      </p:sp>
      <p:sp>
        <p:nvSpPr>
          <p:cNvPr id="9" name="G0Desc"/>
          <p:cNvSpPr txBox="1"/>
          <p:nvPr/>
        </p:nvSpPr>
        <p:spPr>
          <a:xfrm>
            <a:off x="577200" y="2260000"/>
            <a:ext cx="51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>Counts 34 LLVM instruction categories, each normalised by total IR line count.</a:t>
            </a:r>
          </a:p>
        </p:txBody>
      </p:sp>
      <p:sp>
        <p:nvSpPr>
          <p:cNvPr id="10" name="G1Box"/>
          <p:cNvSpPr/>
          <p:nvPr/>
        </p:nvSpPr>
        <p:spPr>
          <a:xfrm>
            <a:off x="6137200" y="1500000"/>
            <a:ext cx="5440000" cy="185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G1Tag"/>
          <p:cNvSpPr/>
          <p:nvPr/>
        </p:nvSpPr>
        <p:spPr>
          <a:xfrm>
            <a:off x="6137200" y="1500000"/>
            <a:ext cx="5440000" cy="31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G1Hdr"/>
          <p:cNvSpPr txBox="1"/>
          <p:nvPr/>
        </p:nvSpPr>
        <p:spPr>
          <a:xfrm>
            <a:off x="6257200" y="1860000"/>
            <a:ext cx="51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lang="en-US">
                <a:solidFill>
                  <a:srgbClr val="1E3A5F"/>
                </a:solidFill>
                <a:latin typeface="Calibri"/>
              </a:rPr>
              <a:t>Dims 34–43  —  Structural Features</a:t>
            </a:r>
          </a:p>
        </p:txBody>
      </p:sp>
      <p:sp>
        <p:nvSpPr>
          <p:cNvPr id="13" name="G1Desc"/>
          <p:cNvSpPr txBox="1"/>
          <p:nvPr/>
        </p:nvSpPr>
        <p:spPr>
          <a:xfrm>
            <a:off x="6257200" y="2260000"/>
            <a:ext cx="51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>Loop depth (phi-node count), branch density, call density, memory ratio, arithmetic intensity.</a:t>
            </a:r>
          </a:p>
        </p:txBody>
      </p:sp>
      <p:sp>
        <p:nvSpPr>
          <p:cNvPr id="14" name="G2Box"/>
          <p:cNvSpPr/>
          <p:nvPr/>
        </p:nvSpPr>
        <p:spPr>
          <a:xfrm>
            <a:off x="457200" y="3600000"/>
            <a:ext cx="5440000" cy="185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G2Tag"/>
          <p:cNvSpPr/>
          <p:nvPr/>
        </p:nvSpPr>
        <p:spPr>
          <a:xfrm>
            <a:off x="457200" y="3600000"/>
            <a:ext cx="5440000" cy="310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G2Hdr"/>
          <p:cNvSpPr txBox="1"/>
          <p:nvPr/>
        </p:nvSpPr>
        <p:spPr>
          <a:xfrm>
            <a:off x="577200" y="3960000"/>
            <a:ext cx="51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lang="en-US">
                <a:solidFill>
                  <a:srgbClr val="1E3A5F"/>
                </a:solidFill>
                <a:latin typeface="Calibri"/>
              </a:rPr>
              <a:t>Dims 44–53  —  HFT-Specific Signals</a:t>
            </a:r>
          </a:p>
        </p:txBody>
      </p:sp>
      <p:sp>
        <p:nvSpPr>
          <p:cNvPr id="17" name="G2Desc"/>
          <p:cNvSpPr txBox="1"/>
          <p:nvPr/>
        </p:nvSpPr>
        <p:spPr>
          <a:xfrm>
            <a:off x="577200" y="4360000"/>
            <a:ext cx="51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>[[hft::hot]] annotation presence, hot-root density, per anti-pattern signal probes (alloca, vtable, atomic, printf).</a:t>
            </a:r>
          </a:p>
        </p:txBody>
      </p:sp>
      <p:sp>
        <p:nvSpPr>
          <p:cNvPr id="18" name="G3Box"/>
          <p:cNvSpPr/>
          <p:nvPr/>
        </p:nvSpPr>
        <p:spPr>
          <a:xfrm>
            <a:off x="6137200" y="3600000"/>
            <a:ext cx="5440000" cy="185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G3Tag"/>
          <p:cNvSpPr/>
          <p:nvPr/>
        </p:nvSpPr>
        <p:spPr>
          <a:xfrm>
            <a:off x="6137200" y="3600000"/>
            <a:ext cx="5440000" cy="31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G3Hdr"/>
          <p:cNvSpPr txBox="1"/>
          <p:nvPr/>
        </p:nvSpPr>
        <p:spPr>
          <a:xfrm>
            <a:off x="6257200" y="3960000"/>
            <a:ext cx="51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lang="en-US">
                <a:solidFill>
                  <a:srgbClr val="1E3A5F"/>
                </a:solidFill>
                <a:latin typeface="Calibri"/>
              </a:rPr>
              <a:t>Dims 54–63  —  Function Statistics</a:t>
            </a:r>
          </a:p>
        </p:txBody>
      </p:sp>
      <p:sp>
        <p:nvSpPr>
          <p:cNvPr id="21" name="G3Desc"/>
          <p:cNvSpPr txBox="1"/>
          <p:nvPr/>
        </p:nvSpPr>
        <p:spPr>
          <a:xfrm>
            <a:off x="6257200" y="4360000"/>
            <a:ext cx="51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>Average function size, noexcept ratio, basic-block density, SIMD usage hints.</a:t>
            </a:r>
          </a:p>
        </p:txBody>
      </p:sp>
      <p:sp>
        <p:nvSpPr>
          <p:cNvPr id="31" name="Insight"/>
          <p:cNvSpPr txBox="1"/>
          <p:nvPr/>
        </p:nvSpPr>
        <p:spPr>
          <a:xfrm>
            <a:off x="457200" y="5780000"/>
            <a:ext cx="112788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 lang="en-US">
                <a:solidFill>
                  <a:srgbClr val="2563EB"/>
                </a:solidFill>
                <a:latin typeface="Calibri"/>
              </a:rPr>
              <a:t xml:space="preserve">Key insight: </a:t>
            </a:r>
            <a:r>
              <a:rPr sz="1350" b="0" i="0" lang="en-US">
                <a:solidFill>
                  <a:srgbClr val="1E293B"/>
                </a:solidFill>
                <a:latin typeface="Calibri"/>
              </a:rPr>
              <a:t>HFT-specific embedding dimensions (44–53) allow early risk screening before engaging the Fixer Agent — conserving computation on COLD paths.</a:t>
            </a:r>
          </a:p>
        </p:txBody>
      </p:sp>
      <p:sp>
        <p:nvSpPr>
          <p:cNvPr id="32" name="Footer"/>
          <p:cNvSpPr txBox="1"/>
          <p:nvPr/>
        </p:nvSpPr>
        <p:spPr>
          <a:xfrm>
            <a:off x="10800000" y="6706800"/>
            <a:ext cx="12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lang="en-US">
                <a:solidFill>
                  <a:srgbClr val="94A3B8"/>
                </a:solidFill>
                <a:latin typeface="Calibri"/>
              </a:rPr>
              <a:t>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457200" y="457200"/>
            <a:ext cx="54864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ectionLabel"/>
          <p:cNvSpPr txBox="1"/>
          <p:nvPr/>
        </p:nvSpPr>
        <p:spPr>
          <a:xfrm>
            <a:off x="548640" y="457200"/>
            <a:ext cx="40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lang="en-US">
                <a:solidFill>
                  <a:srgbClr val="2563EB"/>
                </a:solidFill>
                <a:latin typeface="Calibri"/>
              </a:rPr>
              <a:t>APPROACH</a:t>
            </a:r>
          </a:p>
        </p:txBody>
      </p:sp>
      <p:sp>
        <p:nvSpPr>
          <p:cNvPr id="4" name="SlideTitle"/>
          <p:cNvSpPr txBox="1"/>
          <p:nvPr/>
        </p:nvSpPr>
        <p:spPr>
          <a:xfrm>
            <a:off x="548640" y="685800"/>
            <a:ext cx="1110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lang="en-US">
                <a:solidFill>
                  <a:srgbClr val="1E293B"/>
                </a:solidFill>
                <a:latin typeface="Calibri"/>
              </a:rPr>
              <a:t>HotnessScorer — From Binary Classification to Priority Score</a:t>
            </a:r>
          </a:p>
        </p:txBody>
      </p:sp>
      <p:sp>
        <p:nvSpPr>
          <p:cNvPr id="5" name="TitleDivider"/>
          <p:cNvSpPr/>
          <p:nvPr/>
        </p:nvSpPr>
        <p:spPr>
          <a:xfrm>
            <a:off x="457200" y="1280160"/>
            <a:ext cx="112788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BoxBefore"/>
          <p:cNvSpPr/>
          <p:nvPr/>
        </p:nvSpPr>
        <p:spPr>
          <a:xfrm>
            <a:off x="457200" y="1420000"/>
            <a:ext cx="5440000" cy="42000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BHdr"/>
          <p:cNvSpPr txBox="1"/>
          <p:nvPr/>
        </p:nvSpPr>
        <p:spPr>
          <a:xfrm>
            <a:off x="640000" y="1500000"/>
            <a:ext cx="5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lang="en-US">
                <a:solidFill>
                  <a:srgbClr val="DC2626"/>
                </a:solidFill>
                <a:latin typeface="Calibri"/>
              </a:rPr>
              <a:t>Previous: Binary HOT/COLD</a:t>
            </a:r>
          </a:p>
        </p:txBody>
      </p:sp>
      <p:sp>
        <p:nvSpPr>
          <p:cNvPr id="8" name="BI0"/>
          <p:cNvSpPr txBox="1"/>
          <p:nvPr/>
        </p:nvSpPr>
        <p:spPr>
          <a:xfrm>
            <a:off x="640000" y="1950000"/>
            <a:ext cx="50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 xml:space="preserve">  If "hot" appears in function name → HOT</a:t>
            </a:r>
          </a:p>
        </p:txBody>
      </p:sp>
      <p:sp>
        <p:nvSpPr>
          <p:cNvPr id="9" name="BI1"/>
          <p:cNvSpPr txBox="1"/>
          <p:nvPr/>
        </p:nvSpPr>
        <p:spPr>
          <a:xfrm>
            <a:off x="640000" y="2470000"/>
            <a:ext cx="50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 xml:space="preserve">  Otherwise → COLD</a:t>
            </a:r>
          </a:p>
        </p:txBody>
      </p:sp>
      <p:sp>
        <p:nvSpPr>
          <p:cNvPr id="10" name="BI2"/>
          <p:cNvSpPr txBox="1"/>
          <p:nvPr/>
        </p:nvSpPr>
        <p:spPr>
          <a:xfrm>
            <a:off x="640000" y="2990000"/>
            <a:ext cx="50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 xml:space="preserve">  No intermediate gradation or partial signals</a:t>
            </a:r>
          </a:p>
        </p:txBody>
      </p:sp>
      <p:sp>
        <p:nvSpPr>
          <p:cNvPr id="11" name="BI3"/>
          <p:cNvSpPr txBox="1"/>
          <p:nvPr/>
        </p:nvSpPr>
        <p:spPr>
          <a:xfrm>
            <a:off x="640000" y="3510000"/>
            <a:ext cx="50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 xml:space="preserve">  Missed functions with incomplete naming conventions</a:t>
            </a:r>
          </a:p>
        </p:txBody>
      </p:sp>
      <p:sp>
        <p:nvSpPr>
          <p:cNvPr id="16" name="BoxAfter"/>
          <p:cNvSpPr/>
          <p:nvPr/>
        </p:nvSpPr>
        <p:spPr>
          <a:xfrm>
            <a:off x="6294000" y="1420000"/>
            <a:ext cx="5440000" cy="4200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AHdr"/>
          <p:cNvSpPr txBox="1"/>
          <p:nvPr/>
        </p:nvSpPr>
        <p:spPr>
          <a:xfrm>
            <a:off x="6450000" y="1500000"/>
            <a:ext cx="5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lang="en-US">
                <a:solidFill>
                  <a:srgbClr val="16A34A"/>
                </a:solidFill>
                <a:latin typeface="Calibri"/>
              </a:rPr>
              <a:t>Current: Scored 0–100 Priority</a:t>
            </a:r>
          </a:p>
        </p:txBody>
      </p:sp>
      <p:sp>
        <p:nvSpPr>
          <p:cNvPr id="18" name="AI0"/>
          <p:cNvSpPr txBox="1"/>
          <p:nvPr/>
        </p:nvSpPr>
        <p:spPr>
          <a:xfrm>
            <a:off x="6450000" y="1950000"/>
            <a:ext cx="5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 xml:space="preserve">  [[hft::hot]] annotation → score 100 (hard override)</a:t>
            </a:r>
          </a:p>
        </p:txBody>
      </p:sp>
      <p:sp>
        <p:nvSpPr>
          <p:cNvPr id="19" name="AI1"/>
          <p:cNvSpPr txBox="1"/>
          <p:nvPr/>
        </p:nvSpPr>
        <p:spPr>
          <a:xfrm>
            <a:off x="6450000" y="2390000"/>
            <a:ext cx="5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 xml:space="preserve">  [[hft::cold]] annotation → score 0 (hard override)</a:t>
            </a:r>
          </a:p>
        </p:txBody>
      </p:sp>
      <p:sp>
        <p:nvSpPr>
          <p:cNvPr id="20" name="AI2"/>
          <p:cNvSpPr txBox="1"/>
          <p:nvPr/>
        </p:nvSpPr>
        <p:spPr>
          <a:xfrm>
            <a:off x="6450000" y="2830000"/>
            <a:ext cx="5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 xml:space="preserve">  Hot-root name match → +80 base score</a:t>
            </a:r>
          </a:p>
        </p:txBody>
      </p:sp>
      <p:sp>
        <p:nvSpPr>
          <p:cNvPr id="21" name="AI3"/>
          <p:cNvSpPr txBox="1"/>
          <p:nvPr/>
        </p:nvSpPr>
        <p:spPr>
          <a:xfrm>
            <a:off x="6450000" y="3270000"/>
            <a:ext cx="5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 xml:space="preserve">  Each detected loop → +5 points (cap +20)</a:t>
            </a:r>
          </a:p>
        </p:txBody>
      </p:sp>
      <p:sp>
        <p:nvSpPr>
          <p:cNvPr id="22" name="AI4"/>
          <p:cNvSpPr txBox="1"/>
          <p:nvPr/>
        </p:nvSpPr>
        <p:spPr>
          <a:xfrm>
            <a:off x="6450000" y="3710000"/>
            <a:ext cx="5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 xml:space="preserve">  Branch-heavy body → additional +10</a:t>
            </a:r>
          </a:p>
        </p:txBody>
      </p:sp>
      <p:sp>
        <p:nvSpPr>
          <p:cNvPr id="23" name="AI5"/>
          <p:cNvSpPr txBox="1"/>
          <p:nvPr/>
        </p:nvSpPr>
        <p:spPr>
          <a:xfrm>
            <a:off x="6450000" y="4150000"/>
            <a:ext cx="5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 xml:space="preserve">  Human-readable scoring rationale attached</a:t>
            </a:r>
          </a:p>
        </p:txBody>
      </p:sp>
      <p:sp>
        <p:nvSpPr>
          <p:cNvPr id="31" name="ExBox"/>
          <p:cNvSpPr/>
          <p:nvPr/>
        </p:nvSpPr>
        <p:spPr>
          <a:xfrm>
            <a:off x="457200" y="5700000"/>
            <a:ext cx="11278800" cy="62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Ex"/>
          <p:cNvSpPr txBox="1"/>
          <p:nvPr/>
        </p:nvSpPr>
        <p:spPr>
          <a:xfrm>
            <a:off x="640000" y="5740000"/>
            <a:ext cx="110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lang="en-US">
                <a:solidFill>
                  <a:srgbClr val="1E3A5F"/>
                </a:solidFill>
                <a:latin typeface="Calibri"/>
              </a:rPr>
              <a:t xml:space="preserve">Example:  </a:t>
            </a:r>
            <a:r>
              <a:rPr sz="1200" b="0" i="0" lang="en-US">
                <a:solidFill>
                  <a:srgbClr val="1E293B"/>
                </a:solidFill>
                <a:latin typeface="Consolas"/>
              </a:rPr>
              <a:t>HOT [100/100] on_market_data (budget 400 ns) | HOT [75/100] check_risk (budget 150 ns) | COLD [0/100] load_config</a:t>
            </a:r>
          </a:p>
        </p:txBody>
      </p:sp>
      <p:sp>
        <p:nvSpPr>
          <p:cNvPr id="34" name="Footer"/>
          <p:cNvSpPr txBox="1"/>
          <p:nvPr/>
        </p:nvSpPr>
        <p:spPr>
          <a:xfrm>
            <a:off x="10800000" y="6706800"/>
            <a:ext cx="12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lang="en-US">
                <a:solidFill>
                  <a:srgbClr val="94A3B8"/>
                </a:solidFill>
                <a:latin typeface="Calibri"/>
              </a:rPr>
              <a:t>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457200" y="457200"/>
            <a:ext cx="54864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ectionLabel"/>
          <p:cNvSpPr txBox="1"/>
          <p:nvPr/>
        </p:nvSpPr>
        <p:spPr>
          <a:xfrm>
            <a:off x="548640" y="457200"/>
            <a:ext cx="40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lang="en-US">
                <a:solidFill>
                  <a:srgbClr val="2563EB"/>
                </a:solidFill>
                <a:latin typeface="Calibri"/>
              </a:rPr>
              <a:t>APPROACH</a:t>
            </a:r>
          </a:p>
        </p:txBody>
      </p:sp>
      <p:sp>
        <p:nvSpPr>
          <p:cNvPr id="4" name="SlideTitle"/>
          <p:cNvSpPr txBox="1"/>
          <p:nvPr/>
        </p:nvSpPr>
        <p:spPr>
          <a:xfrm>
            <a:off x="548640" y="685800"/>
            <a:ext cx="1110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lang="en-US">
                <a:solidFill>
                  <a:srgbClr val="1E293B"/>
                </a:solidFill>
                <a:latin typeface="Calibri"/>
              </a:rPr>
              <a:t>PhaseOrderOptimiser — AutoPhase-Inspired Exploration</a:t>
            </a:r>
          </a:p>
        </p:txBody>
      </p:sp>
      <p:sp>
        <p:nvSpPr>
          <p:cNvPr id="5" name="TitleDivider"/>
          <p:cNvSpPr/>
          <p:nvPr/>
        </p:nvSpPr>
        <p:spPr>
          <a:xfrm>
            <a:off x="457200" y="1280160"/>
            <a:ext cx="112788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0Tag"/>
          <p:cNvSpPr/>
          <p:nvPr/>
        </p:nvSpPr>
        <p:spPr>
          <a:xfrm>
            <a:off x="457200" y="1480000"/>
            <a:ext cx="600000" cy="62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S0Seq"/>
          <p:cNvSpPr txBox="1"/>
          <p:nvPr/>
        </p:nvSpPr>
        <p:spPr>
          <a:xfrm>
            <a:off x="520000" y="1580000"/>
            <a:ext cx="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lang="en-US">
                <a:solidFill>
                  <a:srgbClr val="FFFFFF"/>
                </a:solidFill>
                <a:latin typeface="Calibri"/>
              </a:rPr>
              <a:t>SEQ-1</a:t>
            </a:r>
          </a:p>
        </p:txBody>
      </p:sp>
      <p:sp>
        <p:nvSpPr>
          <p:cNvPr id="8" name="S0Name"/>
          <p:cNvSpPr txBox="1"/>
          <p:nvPr/>
        </p:nvSpPr>
        <p:spPr>
          <a:xfrm>
            <a:off x="1200000" y="1530000"/>
            <a:ext cx="2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lang="en-US">
                <a:solidFill>
                  <a:srgbClr val="1E3A5F"/>
                </a:solidFill>
                <a:latin typeface="Calibri"/>
              </a:rPr>
              <a:t>Mem-First</a:t>
            </a:r>
          </a:p>
        </p:txBody>
      </p:sp>
      <p:sp>
        <p:nvSpPr>
          <p:cNvPr id="9" name="S0Pass"/>
          <p:cNvSpPr txBox="1"/>
          <p:nvPr/>
        </p:nvSpPr>
        <p:spPr>
          <a:xfrm>
            <a:off x="1200000" y="1840000"/>
            <a:ext cx="10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lang="en-US">
                <a:solidFill>
                  <a:srgbClr val="475569"/>
                </a:solidFill>
                <a:latin typeface="Consolas"/>
              </a:rPr>
              <a:t>mem2reg → sroa → instcombine → gvn → dce → loop-unroll</a:t>
            </a:r>
          </a:p>
        </p:txBody>
      </p:sp>
      <p:sp>
        <p:nvSpPr>
          <p:cNvPr id="10" name="S1Tag"/>
          <p:cNvSpPr/>
          <p:nvPr/>
        </p:nvSpPr>
        <p:spPr>
          <a:xfrm>
            <a:off x="457200" y="2280000"/>
            <a:ext cx="600000" cy="62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1Seq"/>
          <p:cNvSpPr txBox="1"/>
          <p:nvPr/>
        </p:nvSpPr>
        <p:spPr>
          <a:xfrm>
            <a:off x="520000" y="2380000"/>
            <a:ext cx="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lang="en-US">
                <a:solidFill>
                  <a:srgbClr val="FFFFFF"/>
                </a:solidFill>
                <a:latin typeface="Calibri"/>
              </a:rPr>
              <a:t>SEQ-2</a:t>
            </a:r>
          </a:p>
        </p:txBody>
      </p:sp>
      <p:sp>
        <p:nvSpPr>
          <p:cNvPr id="12" name="S1Name"/>
          <p:cNvSpPr txBox="1"/>
          <p:nvPr/>
        </p:nvSpPr>
        <p:spPr>
          <a:xfrm>
            <a:off x="1200000" y="2330000"/>
            <a:ext cx="2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lang="en-US">
                <a:solidFill>
                  <a:srgbClr val="1E3A5F"/>
                </a:solidFill>
                <a:latin typeface="Calibri"/>
              </a:rPr>
              <a:t>Inline-First</a:t>
            </a:r>
          </a:p>
        </p:txBody>
      </p:sp>
      <p:sp>
        <p:nvSpPr>
          <p:cNvPr id="13" name="S1Pass"/>
          <p:cNvSpPr txBox="1"/>
          <p:nvPr/>
        </p:nvSpPr>
        <p:spPr>
          <a:xfrm>
            <a:off x="1200000" y="2640000"/>
            <a:ext cx="10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lang="en-US">
                <a:solidFill>
                  <a:srgbClr val="475569"/>
                </a:solidFill>
                <a:latin typeface="Consolas"/>
              </a:rPr>
              <a:t>-inline → always-inline → gvn → licm → simplifycfg</a:t>
            </a:r>
          </a:p>
        </p:txBody>
      </p:sp>
      <p:sp>
        <p:nvSpPr>
          <p:cNvPr id="14" name="S2Tag"/>
          <p:cNvSpPr/>
          <p:nvPr/>
        </p:nvSpPr>
        <p:spPr>
          <a:xfrm>
            <a:off x="457200" y="3080000"/>
            <a:ext cx="600000" cy="620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S2Seq"/>
          <p:cNvSpPr txBox="1"/>
          <p:nvPr/>
        </p:nvSpPr>
        <p:spPr>
          <a:xfrm>
            <a:off x="520000" y="3180000"/>
            <a:ext cx="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lang="en-US">
                <a:solidFill>
                  <a:srgbClr val="FFFFFF"/>
                </a:solidFill>
                <a:latin typeface="Calibri"/>
              </a:rPr>
              <a:t>SEQ-3</a:t>
            </a:r>
          </a:p>
        </p:txBody>
      </p:sp>
      <p:sp>
        <p:nvSpPr>
          <p:cNvPr id="16" name="S2Name"/>
          <p:cNvSpPr txBox="1"/>
          <p:nvPr/>
        </p:nvSpPr>
        <p:spPr>
          <a:xfrm>
            <a:off x="1200000" y="3130000"/>
            <a:ext cx="2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lang="en-US">
                <a:solidFill>
                  <a:srgbClr val="1E3A5F"/>
                </a:solidFill>
                <a:latin typeface="Calibri"/>
              </a:rPr>
              <a:t>Loop-First</a:t>
            </a:r>
          </a:p>
        </p:txBody>
      </p:sp>
      <p:sp>
        <p:nvSpPr>
          <p:cNvPr id="17" name="S2Pass"/>
          <p:cNvSpPr txBox="1"/>
          <p:nvPr/>
        </p:nvSpPr>
        <p:spPr>
          <a:xfrm>
            <a:off x="1200000" y="3440000"/>
            <a:ext cx="10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lang="en-US">
                <a:solidFill>
                  <a:srgbClr val="475569"/>
                </a:solidFill>
                <a:latin typeface="Consolas"/>
              </a:rPr>
              <a:t>licm → loop-unroll → loop-vectorize → slp-vectorizer</a:t>
            </a:r>
          </a:p>
        </p:txBody>
      </p:sp>
      <p:sp>
        <p:nvSpPr>
          <p:cNvPr id="18" name="S3Tag"/>
          <p:cNvSpPr/>
          <p:nvPr/>
        </p:nvSpPr>
        <p:spPr>
          <a:xfrm>
            <a:off x="457200" y="3880000"/>
            <a:ext cx="600000" cy="62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3Seq"/>
          <p:cNvSpPr txBox="1"/>
          <p:nvPr/>
        </p:nvSpPr>
        <p:spPr>
          <a:xfrm>
            <a:off x="520000" y="3980000"/>
            <a:ext cx="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lang="en-US">
                <a:solidFill>
                  <a:srgbClr val="FFFFFF"/>
                </a:solidFill>
                <a:latin typeface="Calibri"/>
              </a:rPr>
              <a:t>SEQ-4</a:t>
            </a:r>
          </a:p>
        </p:txBody>
      </p:sp>
      <p:sp>
        <p:nvSpPr>
          <p:cNvPr id="20" name="S3Name"/>
          <p:cNvSpPr txBox="1"/>
          <p:nvPr/>
        </p:nvSpPr>
        <p:spPr>
          <a:xfrm>
            <a:off x="1200000" y="3930000"/>
            <a:ext cx="2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lang="en-US">
                <a:solidFill>
                  <a:srgbClr val="1E3A5F"/>
                </a:solidFill>
                <a:latin typeface="Calibri"/>
              </a:rPr>
              <a:t>AP-Targeted</a:t>
            </a:r>
          </a:p>
        </p:txBody>
      </p:sp>
      <p:sp>
        <p:nvSpPr>
          <p:cNvPr id="21" name="S3Pass"/>
          <p:cNvSpPr txBox="1"/>
          <p:nvPr/>
        </p:nvSpPr>
        <p:spPr>
          <a:xfrm>
            <a:off x="1200000" y="4240000"/>
            <a:ext cx="10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lang="en-US">
                <a:solidFill>
                  <a:srgbClr val="475569"/>
                </a:solidFill>
                <a:latin typeface="Consolas"/>
              </a:rPr>
              <a:t>Anti-pattern specific passes derived from Fixer Agent directives</a:t>
            </a:r>
          </a:p>
        </p:txBody>
      </p:sp>
      <p:sp>
        <p:nvSpPr>
          <p:cNvPr id="22" name="S4Tag"/>
          <p:cNvSpPr/>
          <p:nvPr/>
        </p:nvSpPr>
        <p:spPr>
          <a:xfrm>
            <a:off x="457200" y="4680000"/>
            <a:ext cx="600000" cy="62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S4Seq"/>
          <p:cNvSpPr txBox="1"/>
          <p:nvPr/>
        </p:nvSpPr>
        <p:spPr>
          <a:xfrm>
            <a:off x="520000" y="4780000"/>
            <a:ext cx="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lang="en-US">
                <a:solidFill>
                  <a:srgbClr val="FFFFFF"/>
                </a:solidFill>
                <a:latin typeface="Calibri"/>
              </a:rPr>
              <a:t>SEQ-5</a:t>
            </a:r>
          </a:p>
        </p:txBody>
      </p:sp>
      <p:sp>
        <p:nvSpPr>
          <p:cNvPr id="24" name="S4Name"/>
          <p:cNvSpPr txBox="1"/>
          <p:nvPr/>
        </p:nvSpPr>
        <p:spPr>
          <a:xfrm>
            <a:off x="1200000" y="4730000"/>
            <a:ext cx="2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lang="en-US">
                <a:solidFill>
                  <a:srgbClr val="1E3A5F"/>
                </a:solidFill>
                <a:latin typeface="Calibri"/>
              </a:rPr>
              <a:t>Aggressive</a:t>
            </a:r>
          </a:p>
        </p:txBody>
      </p:sp>
      <p:sp>
        <p:nvSpPr>
          <p:cNvPr id="25" name="S4Pass"/>
          <p:cNvSpPr txBox="1"/>
          <p:nvPr/>
        </p:nvSpPr>
        <p:spPr>
          <a:xfrm>
            <a:off x="1200000" y="5040000"/>
            <a:ext cx="10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lang="en-US">
                <a:solidFill>
                  <a:srgbClr val="475569"/>
                </a:solidFill>
                <a:latin typeface="Consolas"/>
              </a:rPr>
              <a:t>All passes + DCE last: jump-threading + sccp + reassociate</a:t>
            </a:r>
          </a:p>
        </p:txBody>
      </p:sp>
      <p:sp>
        <p:nvSpPr>
          <p:cNvPr id="31" name="ResBox"/>
          <p:cNvSpPr/>
          <p:nvPr/>
        </p:nvSpPr>
        <p:spPr>
          <a:xfrm>
            <a:off x="457200" y="5600000"/>
            <a:ext cx="11278800" cy="70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ResHdr"/>
          <p:cNvSpPr txBox="1"/>
          <p:nvPr/>
        </p:nvSpPr>
        <p:spPr>
          <a:xfrm>
            <a:off x="640000" y="5640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lang="en-US">
                <a:solidFill>
                  <a:srgbClr val="1E3A5F"/>
                </a:solidFill>
                <a:latin typeface="Calibri"/>
              </a:rPr>
              <a:t>Sample Result:</a:t>
            </a:r>
          </a:p>
        </p:txBody>
      </p:sp>
      <p:sp>
        <p:nvSpPr>
          <p:cNvPr id="33" name="ResTxt"/>
          <p:cNvSpPr txBox="1"/>
          <p:nvPr/>
        </p:nvSpPr>
        <p:spPr>
          <a:xfrm>
            <a:off x="640000" y="5940000"/>
            <a:ext cx="11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lang="en-US">
                <a:solidFill>
                  <a:srgbClr val="1E293B"/>
                </a:solidFill>
                <a:latin typeface="Consolas"/>
              </a:rPr>
              <a:t>SEQ-1 Mem-First: 94 ns [WINNER]   |   SEQ-2: 112 ns   |   SEQ-3: 103 ns   |   SEQ-4: 101 ns   |   SEQ-5: 98 ns</a:t>
            </a:r>
          </a:p>
        </p:txBody>
      </p:sp>
      <p:sp>
        <p:nvSpPr>
          <p:cNvPr id="34" name="Footer"/>
          <p:cNvSpPr txBox="1"/>
          <p:nvPr/>
        </p:nvSpPr>
        <p:spPr>
          <a:xfrm>
            <a:off x="10800000" y="6706800"/>
            <a:ext cx="12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lang="en-US">
                <a:solidFill>
                  <a:srgbClr val="94A3B8"/>
                </a:solidFill>
                <a:latin typeface="Calibri"/>
              </a:rPr>
              <a:t>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457200" y="457200"/>
            <a:ext cx="54864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ectionLabel"/>
          <p:cNvSpPr txBox="1"/>
          <p:nvPr/>
        </p:nvSpPr>
        <p:spPr>
          <a:xfrm>
            <a:off x="548640" y="457200"/>
            <a:ext cx="40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lang="en-US">
                <a:solidFill>
                  <a:srgbClr val="2563EB"/>
                </a:solidFill>
                <a:latin typeface="Calibri"/>
              </a:rPr>
              <a:t>APPROACH</a:t>
            </a:r>
          </a:p>
        </p:txBody>
      </p:sp>
      <p:sp>
        <p:nvSpPr>
          <p:cNvPr id="4" name="SlideTitle"/>
          <p:cNvSpPr txBox="1"/>
          <p:nvPr/>
        </p:nvSpPr>
        <p:spPr>
          <a:xfrm>
            <a:off x="548640" y="685800"/>
            <a:ext cx="1110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lang="en-US">
                <a:solidFill>
                  <a:srgbClr val="1E293B"/>
                </a:solidFill>
                <a:latin typeface="Calibri"/>
              </a:rPr>
              <a:t>Five-Component Reward Function</a:t>
            </a:r>
          </a:p>
        </p:txBody>
      </p:sp>
      <p:sp>
        <p:nvSpPr>
          <p:cNvPr id="5" name="TitleDivider"/>
          <p:cNvSpPr/>
          <p:nvPr/>
        </p:nvSpPr>
        <p:spPr>
          <a:xfrm>
            <a:off x="457200" y="1280160"/>
            <a:ext cx="112788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rmula"/>
          <p:cNvSpPr txBox="1"/>
          <p:nvPr/>
        </p:nvSpPr>
        <p:spPr>
          <a:xfrm>
            <a:off x="457200" y="1420000"/>
            <a:ext cx="112788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lang="en-US">
                <a:solidFill>
                  <a:srgbClr val="1E3A5F"/>
                </a:solidFill>
                <a:latin typeface="Consolas"/>
              </a:rPr>
              <a:t>R = 0.50 × Latency  +  0.20 × Instructions  +  0.15 × AP-Fix  −  0.10 × Retry  +  0.05 × Stability</a:t>
            </a:r>
          </a:p>
        </p:txBody>
      </p:sp>
      <p:sp>
        <p:nvSpPr>
          <p:cNvPr id="7" name="Bar0"/>
          <p:cNvSpPr/>
          <p:nvPr/>
        </p:nvSpPr>
        <p:spPr>
          <a:xfrm>
            <a:off x="457200" y="2050000"/>
            <a:ext cx="5500000" cy="440000"/>
          </a:xfrm>
          <a:prstGeom prst="rect">
            <a:avLst/>
          </a:prstGeom>
          <a:solidFill>
            <a:srgbClr val="16A34A33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Wt0"/>
          <p:cNvSpPr txBox="1"/>
          <p:nvPr/>
        </p:nvSpPr>
        <p:spPr>
          <a:xfrm>
            <a:off x="457200" y="2100000"/>
            <a:ext cx="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lang="en-US">
                <a:solidFill>
                  <a:srgbClr val="16A34A"/>
                </a:solidFill>
                <a:latin typeface="Calibri"/>
              </a:rPr>
              <a:t>+0.50</a:t>
            </a:r>
          </a:p>
        </p:txBody>
      </p:sp>
      <p:sp>
        <p:nvSpPr>
          <p:cNvPr id="9" name="BN0"/>
          <p:cNvSpPr txBox="1"/>
          <p:nvPr/>
        </p:nvSpPr>
        <p:spPr>
          <a:xfrm>
            <a:off x="1300000" y="2100000"/>
            <a:ext cx="4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lang="en-US">
                <a:solidFill>
                  <a:srgbClr val="1E3A5F"/>
                </a:solidFill>
                <a:latin typeface="Calibri"/>
              </a:rPr>
              <a:t>Latency Improvement</a:t>
            </a:r>
          </a:p>
        </p:txBody>
      </p:sp>
      <p:sp>
        <p:nvSpPr>
          <p:cNvPr id="10" name="BD0"/>
          <p:cNvSpPr txBox="1"/>
          <p:nvPr/>
        </p:nvSpPr>
        <p:spPr>
          <a:xfrm>
            <a:off x="1300000" y="2370000"/>
            <a:ext cx="105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lang="en-US">
                <a:solidFill>
                  <a:srgbClr val="475569"/>
                </a:solidFill>
                <a:latin typeface="Calibri"/>
              </a:rPr>
              <a:t>Primary objective, weighted most heavily. Measures reduction in estimated hot-path latency.</a:t>
            </a:r>
          </a:p>
        </p:txBody>
      </p:sp>
      <p:sp>
        <p:nvSpPr>
          <p:cNvPr id="11" name="Bar1"/>
          <p:cNvSpPr/>
          <p:nvPr/>
        </p:nvSpPr>
        <p:spPr>
          <a:xfrm>
            <a:off x="457200" y="2880000"/>
            <a:ext cx="2200000" cy="440000"/>
          </a:xfrm>
          <a:prstGeom prst="rect">
            <a:avLst/>
          </a:prstGeom>
          <a:solidFill>
            <a:srgbClr val="2563EB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Wt1"/>
          <p:cNvSpPr txBox="1"/>
          <p:nvPr/>
        </p:nvSpPr>
        <p:spPr>
          <a:xfrm>
            <a:off x="457200" y="2930000"/>
            <a:ext cx="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lang="en-US">
                <a:solidFill>
                  <a:srgbClr val="2563EB"/>
                </a:solidFill>
                <a:latin typeface="Calibri"/>
              </a:rPr>
              <a:t>+0.20</a:t>
            </a:r>
          </a:p>
        </p:txBody>
      </p:sp>
      <p:sp>
        <p:nvSpPr>
          <p:cNvPr id="13" name="BN1"/>
          <p:cNvSpPr txBox="1"/>
          <p:nvPr/>
        </p:nvSpPr>
        <p:spPr>
          <a:xfrm>
            <a:off x="1300000" y="2930000"/>
            <a:ext cx="4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lang="en-US">
                <a:solidFill>
                  <a:srgbClr val="1E3A5F"/>
                </a:solidFill>
                <a:latin typeface="Calibri"/>
              </a:rPr>
              <a:t>Instruction Reduction</a:t>
            </a:r>
          </a:p>
        </p:txBody>
      </p:sp>
      <p:sp>
        <p:nvSpPr>
          <p:cNvPr id="14" name="BD1"/>
          <p:cNvSpPr txBox="1"/>
          <p:nvPr/>
        </p:nvSpPr>
        <p:spPr>
          <a:xfrm>
            <a:off x="1300000" y="3200000"/>
            <a:ext cx="105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lang="en-US">
                <a:solidFill>
                  <a:srgbClr val="475569"/>
                </a:solidFill>
                <a:latin typeface="Calibri"/>
              </a:rPr>
              <a:t>Proxy metric for overall code quality and efficiency of the emitted instruction stream.</a:t>
            </a:r>
          </a:p>
        </p:txBody>
      </p:sp>
      <p:sp>
        <p:nvSpPr>
          <p:cNvPr id="15" name="Bar2"/>
          <p:cNvSpPr/>
          <p:nvPr/>
        </p:nvSpPr>
        <p:spPr>
          <a:xfrm>
            <a:off x="457200" y="3710000"/>
            <a:ext cx="1650000" cy="440000"/>
          </a:xfrm>
          <a:prstGeom prst="rect">
            <a:avLst/>
          </a:prstGeom>
          <a:solidFill>
            <a:srgbClr val="0891B2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Wt2"/>
          <p:cNvSpPr txBox="1"/>
          <p:nvPr/>
        </p:nvSpPr>
        <p:spPr>
          <a:xfrm>
            <a:off x="457200" y="3760000"/>
            <a:ext cx="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lang="en-US">
                <a:solidFill>
                  <a:srgbClr val="0891B2"/>
                </a:solidFill>
                <a:latin typeface="Calibri"/>
              </a:rPr>
              <a:t>+0.15</a:t>
            </a:r>
          </a:p>
        </p:txBody>
      </p:sp>
      <p:sp>
        <p:nvSpPr>
          <p:cNvPr id="17" name="BN2"/>
          <p:cNvSpPr txBox="1"/>
          <p:nvPr/>
        </p:nvSpPr>
        <p:spPr>
          <a:xfrm>
            <a:off x="1300000" y="3760000"/>
            <a:ext cx="4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lang="en-US">
                <a:solidFill>
                  <a:srgbClr val="1E3A5F"/>
                </a:solidFill>
                <a:latin typeface="Calibri"/>
              </a:rPr>
              <a:t>Anti-Pattern Resolution Rate</a:t>
            </a:r>
          </a:p>
        </p:txBody>
      </p:sp>
      <p:sp>
        <p:nvSpPr>
          <p:cNvPr id="18" name="BD2"/>
          <p:cNvSpPr txBox="1"/>
          <p:nvPr/>
        </p:nvSpPr>
        <p:spPr>
          <a:xfrm>
            <a:off x="1300000" y="4030000"/>
            <a:ext cx="105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lang="en-US">
                <a:solidFill>
                  <a:srgbClr val="475569"/>
                </a:solidFill>
                <a:latin typeface="Calibri"/>
              </a:rPr>
              <a:t>Fraction of detected HFT latency anti-patterns (LAP-001–010) successfully eliminated.</a:t>
            </a:r>
          </a:p>
        </p:txBody>
      </p:sp>
      <p:sp>
        <p:nvSpPr>
          <p:cNvPr id="19" name="Bar3"/>
          <p:cNvSpPr/>
          <p:nvPr/>
        </p:nvSpPr>
        <p:spPr>
          <a:xfrm>
            <a:off x="457200" y="4540000"/>
            <a:ext cx="1100000" cy="440000"/>
          </a:xfrm>
          <a:prstGeom prst="rect">
            <a:avLst/>
          </a:prstGeom>
          <a:solidFill>
            <a:srgbClr val="DC262633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Wt3"/>
          <p:cNvSpPr txBox="1"/>
          <p:nvPr/>
        </p:nvSpPr>
        <p:spPr>
          <a:xfrm>
            <a:off x="457200" y="4590000"/>
            <a:ext cx="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lang="en-US">
                <a:solidFill>
                  <a:srgbClr val="DC2626"/>
                </a:solidFill>
                <a:latin typeface="Calibri"/>
              </a:rPr>
              <a:t>−0.10</a:t>
            </a:r>
          </a:p>
        </p:txBody>
      </p:sp>
      <p:sp>
        <p:nvSpPr>
          <p:cNvPr id="21" name="BN3"/>
          <p:cNvSpPr txBox="1"/>
          <p:nvPr/>
        </p:nvSpPr>
        <p:spPr>
          <a:xfrm>
            <a:off x="1300000" y="4590000"/>
            <a:ext cx="4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lang="en-US">
                <a:solidFill>
                  <a:srgbClr val="1E3A5F"/>
                </a:solidFill>
                <a:latin typeface="Calibri"/>
              </a:rPr>
              <a:t>Retry Penalty</a:t>
            </a:r>
          </a:p>
        </p:txBody>
      </p:sp>
      <p:sp>
        <p:nvSpPr>
          <p:cNvPr id="22" name="BD3"/>
          <p:cNvSpPr txBox="1"/>
          <p:nvPr/>
        </p:nvSpPr>
        <p:spPr>
          <a:xfrm>
            <a:off x="1300000" y="4860000"/>
            <a:ext cx="105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lang="en-US">
                <a:solidFill>
                  <a:srgbClr val="475569"/>
                </a:solidFill>
                <a:latin typeface="Calibri"/>
              </a:rPr>
              <a:t>Discourages excessive iteration; penalises pipelines that required multiple retry cycles.</a:t>
            </a:r>
          </a:p>
        </p:txBody>
      </p:sp>
      <p:sp>
        <p:nvSpPr>
          <p:cNvPr id="23" name="Bar4"/>
          <p:cNvSpPr/>
          <p:nvPr/>
        </p:nvSpPr>
        <p:spPr>
          <a:xfrm>
            <a:off x="457200" y="5370000"/>
            <a:ext cx="550000" cy="440000"/>
          </a:xfrm>
          <a:prstGeom prst="rect">
            <a:avLst/>
          </a:prstGeom>
          <a:solidFill>
            <a:srgbClr val="D9770633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Wt4"/>
          <p:cNvSpPr txBox="1"/>
          <p:nvPr/>
        </p:nvSpPr>
        <p:spPr>
          <a:xfrm>
            <a:off x="457200" y="5420000"/>
            <a:ext cx="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lang="en-US">
                <a:solidFill>
                  <a:srgbClr val="D97706"/>
                </a:solidFill>
                <a:latin typeface="Calibri"/>
              </a:rPr>
              <a:t>+0.05</a:t>
            </a:r>
          </a:p>
        </p:txBody>
      </p:sp>
      <p:sp>
        <p:nvSpPr>
          <p:cNvPr id="25" name="BN4"/>
          <p:cNvSpPr txBox="1"/>
          <p:nvPr/>
        </p:nvSpPr>
        <p:spPr>
          <a:xfrm>
            <a:off x="1300000" y="5420000"/>
            <a:ext cx="4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lang="en-US">
                <a:solidFill>
                  <a:srgbClr val="1E3A5F"/>
                </a:solidFill>
                <a:latin typeface="Calibri"/>
              </a:rPr>
              <a:t>Stability Bonus</a:t>
            </a:r>
          </a:p>
        </p:txBody>
      </p:sp>
      <p:sp>
        <p:nvSpPr>
          <p:cNvPr id="26" name="BD4"/>
          <p:cNvSpPr txBox="1"/>
          <p:nvPr/>
        </p:nvSpPr>
        <p:spPr>
          <a:xfrm>
            <a:off x="1300000" y="5690000"/>
            <a:ext cx="105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lang="en-US">
                <a:solidFill>
                  <a:srgbClr val="475569"/>
                </a:solidFill>
                <a:latin typeface="Calibri"/>
              </a:rPr>
              <a:t>Rewards consistent improvement across all compilation units within the workload.</a:t>
            </a:r>
          </a:p>
        </p:txBody>
      </p:sp>
      <p:sp>
        <p:nvSpPr>
          <p:cNvPr id="31" name="Footer"/>
          <p:cNvSpPr txBox="1"/>
          <p:nvPr/>
        </p:nvSpPr>
        <p:spPr>
          <a:xfrm>
            <a:off x="10800000" y="6706800"/>
            <a:ext cx="12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lang="en-US">
                <a:solidFill>
                  <a:srgbClr val="94A3B8"/>
                </a:solidFill>
                <a:latin typeface="Calibri"/>
              </a:rPr>
              <a:t>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457200" y="457200"/>
            <a:ext cx="54864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ectionLabel"/>
          <p:cNvSpPr txBox="1"/>
          <p:nvPr/>
        </p:nvSpPr>
        <p:spPr>
          <a:xfrm>
            <a:off x="548640" y="457200"/>
            <a:ext cx="40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lang="en-US">
                <a:solidFill>
                  <a:srgbClr val="2563EB"/>
                </a:solidFill>
                <a:latin typeface="Calibri"/>
              </a:rPr>
              <a:t>DEMO</a:t>
            </a:r>
          </a:p>
        </p:txBody>
      </p:sp>
      <p:sp>
        <p:nvSpPr>
          <p:cNvPr id="4" name="SlideTitle"/>
          <p:cNvSpPr txBox="1"/>
          <p:nvPr/>
        </p:nvSpPr>
        <p:spPr>
          <a:xfrm>
            <a:off x="548640" y="685800"/>
            <a:ext cx="1110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lang="en-US">
                <a:solidFill>
                  <a:srgbClr val="1E293B"/>
                </a:solidFill>
                <a:latin typeface="Calibri"/>
              </a:rPr>
              <a:t>System Execution — CLI Entry Points</a:t>
            </a:r>
          </a:p>
        </p:txBody>
      </p:sp>
      <p:sp>
        <p:nvSpPr>
          <p:cNvPr id="5" name="TitleDivider"/>
          <p:cNvSpPr/>
          <p:nvPr/>
        </p:nvSpPr>
        <p:spPr>
          <a:xfrm>
            <a:off x="457200" y="1280160"/>
            <a:ext cx="112788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C0Bar"/>
          <p:cNvSpPr/>
          <p:nvPr/>
        </p:nvSpPr>
        <p:spPr>
          <a:xfrm>
            <a:off x="457200" y="1500000"/>
            <a:ext cx="18000" cy="70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C0T"/>
          <p:cNvSpPr txBox="1"/>
          <p:nvPr/>
        </p:nvSpPr>
        <p:spPr>
          <a:xfrm>
            <a:off x="620000" y="1540000"/>
            <a:ext cx="4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lang="en-US">
                <a:solidFill>
                  <a:srgbClr val="1E3A5F"/>
                </a:solidFill>
                <a:latin typeface="Calibri"/>
              </a:rPr>
              <a:t>Smoke Test</a:t>
            </a:r>
          </a:p>
        </p:txBody>
      </p:sp>
      <p:sp>
        <p:nvSpPr>
          <p:cNvPr id="8" name="C0D"/>
          <p:cNvSpPr txBox="1"/>
          <p:nvPr/>
        </p:nvSpPr>
        <p:spPr>
          <a:xfrm>
            <a:off x="620000" y="1860000"/>
            <a:ext cx="4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lang="en-US">
                <a:solidFill>
                  <a:srgbClr val="475569"/>
                </a:solidFill>
                <a:latin typeface="Calibri"/>
              </a:rPr>
              <a:t>No source files required</a:t>
            </a:r>
          </a:p>
        </p:txBody>
      </p:sp>
      <p:sp>
        <p:nvSpPr>
          <p:cNvPr id="9" name="C0Cmd"/>
          <p:cNvSpPr txBox="1"/>
          <p:nvPr/>
        </p:nvSpPr>
        <p:spPr>
          <a:xfrm>
            <a:off x="5500000" y="1680000"/>
            <a:ext cx="62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onsolas"/>
              </a:rPr>
              <a:t>$ python3 src/pipeline.py</a:t>
            </a:r>
          </a:p>
        </p:txBody>
      </p:sp>
      <p:sp>
        <p:nvSpPr>
          <p:cNvPr id="10" name="C1Bar"/>
          <p:cNvSpPr/>
          <p:nvPr/>
        </p:nvSpPr>
        <p:spPr>
          <a:xfrm>
            <a:off x="457200" y="2450000"/>
            <a:ext cx="18000" cy="70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C1T"/>
          <p:cNvSpPr txBox="1"/>
          <p:nvPr/>
        </p:nvSpPr>
        <p:spPr>
          <a:xfrm>
            <a:off x="620000" y="2490000"/>
            <a:ext cx="4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lang="en-US">
                <a:solidFill>
                  <a:srgbClr val="1E3A5F"/>
                </a:solidFill>
                <a:latin typeface="Calibri"/>
              </a:rPr>
              <a:t>Demo Compilation</a:t>
            </a:r>
          </a:p>
        </p:txBody>
      </p:sp>
      <p:sp>
        <p:nvSpPr>
          <p:cNvPr id="12" name="C1D"/>
          <p:cNvSpPr txBox="1"/>
          <p:nvPr/>
        </p:nvSpPr>
        <p:spPr>
          <a:xfrm>
            <a:off x="620000" y="2810000"/>
            <a:ext cx="4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lang="en-US">
                <a:solidFill>
                  <a:srgbClr val="475569"/>
                </a:solidFill>
                <a:latin typeface="Calibri"/>
              </a:rPr>
              <a:t>Compile the bundled HFT strategy</a:t>
            </a:r>
          </a:p>
        </p:txBody>
      </p:sp>
      <p:sp>
        <p:nvSpPr>
          <p:cNvPr id="13" name="C1Cmd"/>
          <p:cNvSpPr txBox="1"/>
          <p:nvPr/>
        </p:nvSpPr>
        <p:spPr>
          <a:xfrm>
            <a:off x="5500000" y="2630000"/>
            <a:ext cx="62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onsolas"/>
              </a:rPr>
              <a:t>$ python3 src/pipeline.py --demo</a:t>
            </a:r>
          </a:p>
        </p:txBody>
      </p:sp>
      <p:sp>
        <p:nvSpPr>
          <p:cNvPr id="14" name="C2Bar"/>
          <p:cNvSpPr/>
          <p:nvPr/>
        </p:nvSpPr>
        <p:spPr>
          <a:xfrm>
            <a:off x="457200" y="3400000"/>
            <a:ext cx="18000" cy="700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C2T"/>
          <p:cNvSpPr txBox="1"/>
          <p:nvPr/>
        </p:nvSpPr>
        <p:spPr>
          <a:xfrm>
            <a:off x="620000" y="3440000"/>
            <a:ext cx="4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lang="en-US">
                <a:solidFill>
                  <a:srgbClr val="1E3A5F"/>
                </a:solidFill>
                <a:latin typeface="Calibri"/>
              </a:rPr>
              <a:t>Benchmark Mode</a:t>
            </a:r>
          </a:p>
        </p:txBody>
      </p:sp>
      <p:sp>
        <p:nvSpPr>
          <p:cNvPr id="16" name="C2D"/>
          <p:cNvSpPr txBox="1"/>
          <p:nvPr/>
        </p:nvSpPr>
        <p:spPr>
          <a:xfrm>
            <a:off x="620000" y="3760000"/>
            <a:ext cx="4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lang="en-US">
                <a:solidFill>
                  <a:srgbClr val="475569"/>
                </a:solidFill>
                <a:latin typeface="Calibri"/>
              </a:rPr>
              <a:t>Compare AGentic_C vs. standard -O3</a:t>
            </a:r>
          </a:p>
        </p:txBody>
      </p:sp>
      <p:sp>
        <p:nvSpPr>
          <p:cNvPr id="17" name="C2Cmd"/>
          <p:cNvSpPr txBox="1"/>
          <p:nvPr/>
        </p:nvSpPr>
        <p:spPr>
          <a:xfrm>
            <a:off x="5500000" y="3580000"/>
            <a:ext cx="62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onsolas"/>
              </a:rPr>
              <a:t>$ python3 src/pipeline.py --benchmark</a:t>
            </a:r>
          </a:p>
        </p:txBody>
      </p:sp>
      <p:sp>
        <p:nvSpPr>
          <p:cNvPr id="18" name="C3Bar"/>
          <p:cNvSpPr/>
          <p:nvPr/>
        </p:nvSpPr>
        <p:spPr>
          <a:xfrm>
            <a:off x="457200" y="4350000"/>
            <a:ext cx="18000" cy="70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C3T"/>
          <p:cNvSpPr txBox="1"/>
          <p:nvPr/>
        </p:nvSpPr>
        <p:spPr>
          <a:xfrm>
            <a:off x="620000" y="4390000"/>
            <a:ext cx="4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lang="en-US">
                <a:solidFill>
                  <a:srgbClr val="1E3A5F"/>
                </a:solidFill>
                <a:latin typeface="Calibri"/>
              </a:rPr>
              <a:t>Full Run + Dashboard</a:t>
            </a:r>
          </a:p>
        </p:txBody>
      </p:sp>
      <p:sp>
        <p:nvSpPr>
          <p:cNvPr id="20" name="C3D"/>
          <p:cNvSpPr txBox="1"/>
          <p:nvPr/>
        </p:nvSpPr>
        <p:spPr>
          <a:xfrm>
            <a:off x="620000" y="4710000"/>
            <a:ext cx="4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lang="en-US">
                <a:solidFill>
                  <a:srgbClr val="475569"/>
                </a:solidFill>
                <a:latin typeface="Calibri"/>
              </a:rPr>
              <a:t>Pipeline execution with live web UI</a:t>
            </a:r>
          </a:p>
        </p:txBody>
      </p:sp>
      <p:sp>
        <p:nvSpPr>
          <p:cNvPr id="21" name="C3Cmd"/>
          <p:cNvSpPr txBox="1"/>
          <p:nvPr/>
        </p:nvSpPr>
        <p:spPr>
          <a:xfrm>
            <a:off x="5500000" y="4530000"/>
            <a:ext cx="62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onsolas"/>
              </a:rPr>
              <a:t>$ python3 src/pipeline.py --demo --web</a:t>
            </a:r>
          </a:p>
        </p:txBody>
      </p:sp>
      <p:sp>
        <p:nvSpPr>
          <p:cNvPr id="22" name="C4Bar"/>
          <p:cNvSpPr/>
          <p:nvPr/>
        </p:nvSpPr>
        <p:spPr>
          <a:xfrm>
            <a:off x="457200" y="5300000"/>
            <a:ext cx="18000" cy="70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C4T"/>
          <p:cNvSpPr txBox="1"/>
          <p:nvPr/>
        </p:nvSpPr>
        <p:spPr>
          <a:xfrm>
            <a:off x="620000" y="5340000"/>
            <a:ext cx="4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lang="en-US">
                <a:solidFill>
                  <a:srgbClr val="1E3A5F"/>
                </a:solidFill>
                <a:latin typeface="Calibri"/>
              </a:rPr>
              <a:t>Dashboard Standalone</a:t>
            </a:r>
          </a:p>
        </p:txBody>
      </p:sp>
      <p:sp>
        <p:nvSpPr>
          <p:cNvPr id="24" name="C4D"/>
          <p:cNvSpPr txBox="1"/>
          <p:nvPr/>
        </p:nvSpPr>
        <p:spPr>
          <a:xfrm>
            <a:off x="620000" y="5660000"/>
            <a:ext cx="4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lang="en-US">
                <a:solidFill>
                  <a:srgbClr val="475569"/>
                </a:solidFill>
                <a:latin typeface="Calibri"/>
              </a:rPr>
              <a:t>Launch UI with pre-loaded sample data</a:t>
            </a:r>
          </a:p>
        </p:txBody>
      </p:sp>
      <p:sp>
        <p:nvSpPr>
          <p:cNvPr id="25" name="C4Cmd"/>
          <p:cNvSpPr txBox="1"/>
          <p:nvPr/>
        </p:nvSpPr>
        <p:spPr>
          <a:xfrm>
            <a:off x="5500000" y="5480000"/>
            <a:ext cx="62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onsolas"/>
              </a:rPr>
              <a:t>$ python3 src/web_ui/app.py</a:t>
            </a:r>
          </a:p>
        </p:txBody>
      </p:sp>
      <p:sp>
        <p:nvSpPr>
          <p:cNvPr id="28" name="Footer"/>
          <p:cNvSpPr txBox="1"/>
          <p:nvPr/>
        </p:nvSpPr>
        <p:spPr>
          <a:xfrm>
            <a:off x="10800000" y="6706800"/>
            <a:ext cx="12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lang="en-US">
                <a:solidFill>
                  <a:srgbClr val="94A3B8"/>
                </a:solidFill>
                <a:latin typeface="Calibri"/>
              </a:rPr>
              <a:t>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457200" y="457200"/>
            <a:ext cx="54864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ectionLabel"/>
          <p:cNvSpPr txBox="1"/>
          <p:nvPr/>
        </p:nvSpPr>
        <p:spPr>
          <a:xfrm>
            <a:off x="548640" y="457200"/>
            <a:ext cx="40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lang="en-US">
                <a:solidFill>
                  <a:srgbClr val="2563EB"/>
                </a:solidFill>
                <a:latin typeface="Calibri"/>
              </a:rPr>
              <a:t>DEMO</a:t>
            </a:r>
          </a:p>
        </p:txBody>
      </p:sp>
      <p:sp>
        <p:nvSpPr>
          <p:cNvPr id="4" name="SlideTitle"/>
          <p:cNvSpPr txBox="1"/>
          <p:nvPr/>
        </p:nvSpPr>
        <p:spPr>
          <a:xfrm>
            <a:off x="548640" y="685800"/>
            <a:ext cx="1110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lang="en-US">
                <a:solidFill>
                  <a:srgbClr val="1E293B"/>
                </a:solidFill>
                <a:latin typeface="Calibri"/>
              </a:rPr>
              <a:t>Real-Time Web Dashboard — localhost:5050</a:t>
            </a:r>
          </a:p>
        </p:txBody>
      </p:sp>
      <p:sp>
        <p:nvSpPr>
          <p:cNvPr id="5" name="TitleDivider"/>
          <p:cNvSpPr/>
          <p:nvPr/>
        </p:nvSpPr>
        <p:spPr>
          <a:xfrm>
            <a:off x="457200" y="1280160"/>
            <a:ext cx="112788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P0Box"/>
          <p:cNvSpPr/>
          <p:nvPr/>
        </p:nvSpPr>
        <p:spPr>
          <a:xfrm>
            <a:off x="457200" y="1450000"/>
            <a:ext cx="3600000" cy="110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P0Tag"/>
          <p:cNvSpPr/>
          <p:nvPr/>
        </p:nvSpPr>
        <p:spPr>
          <a:xfrm>
            <a:off x="457200" y="1450000"/>
            <a:ext cx="3600000" cy="20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P0Txt"/>
          <p:cNvSpPr txBox="1"/>
          <p:nvPr/>
        </p:nvSpPr>
        <p:spPr>
          <a:xfrm>
            <a:off x="577200" y="1700000"/>
            <a:ext cx="33600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lang="en-US">
                <a:solidFill>
                  <a:srgbClr val="1E3A5F"/>
                </a:solidFill>
                <a:latin typeface="Calibri"/>
              </a:rPr>
              <a:t>Pipeline Flow Schematic</a:t>
            </a:r>
          </a:p>
          <a:p>
            <a:pPr algn="l"/>
          </a:p>
          <a:p>
            <a:pPr algn="l"/>
            <a:r>
              <a:rPr sz="1150" b="0" i="0" lang="en-US">
                <a:solidFill>
                  <a:srgbClr val="475569"/>
                </a:solidFill>
                <a:latin typeface="Calibri"/>
              </a:rPr>
              <a:t>Visual diagram of all six agents and their connections</a:t>
            </a:r>
          </a:p>
        </p:txBody>
      </p:sp>
      <p:sp>
        <p:nvSpPr>
          <p:cNvPr id="9" name="P1Box"/>
          <p:cNvSpPr/>
          <p:nvPr/>
        </p:nvSpPr>
        <p:spPr>
          <a:xfrm>
            <a:off x="4177200" y="1450000"/>
            <a:ext cx="3600000" cy="110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P1Tag"/>
          <p:cNvSpPr/>
          <p:nvPr/>
        </p:nvSpPr>
        <p:spPr>
          <a:xfrm>
            <a:off x="4177200" y="1450000"/>
            <a:ext cx="3600000" cy="20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P1Txt"/>
          <p:cNvSpPr txBox="1"/>
          <p:nvPr/>
        </p:nvSpPr>
        <p:spPr>
          <a:xfrm>
            <a:off x="4297200" y="1700000"/>
            <a:ext cx="33600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lang="en-US">
                <a:solidFill>
                  <a:srgbClr val="1E3A5F"/>
                </a:solidFill>
                <a:latin typeface="Calibri"/>
              </a:rPr>
              <a:t>Metrics Overview</a:t>
            </a:r>
          </a:p>
          <a:p>
            <a:pPr algn="l"/>
          </a:p>
          <a:p>
            <a:pPr algn="l"/>
            <a:r>
              <a:rPr sz="1150" b="0" i="0" lang="en-US">
                <a:solidFill>
                  <a:srgbClr val="475569"/>
                </a:solidFill>
                <a:latin typeface="Calibri"/>
              </a:rPr>
              <a:t>Aggregate latency, reward score, instruction delta</a:t>
            </a:r>
          </a:p>
        </p:txBody>
      </p:sp>
      <p:sp>
        <p:nvSpPr>
          <p:cNvPr id="12" name="P2Box"/>
          <p:cNvSpPr/>
          <p:nvPr/>
        </p:nvSpPr>
        <p:spPr>
          <a:xfrm>
            <a:off x="7897200" y="1450000"/>
            <a:ext cx="3600000" cy="110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P2Tag"/>
          <p:cNvSpPr/>
          <p:nvPr/>
        </p:nvSpPr>
        <p:spPr>
          <a:xfrm>
            <a:off x="7897200" y="1450000"/>
            <a:ext cx="3600000" cy="200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2Txt"/>
          <p:cNvSpPr txBox="1"/>
          <p:nvPr/>
        </p:nvSpPr>
        <p:spPr>
          <a:xfrm>
            <a:off x="8017200" y="1700000"/>
            <a:ext cx="33600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lang="en-US">
                <a:solidFill>
                  <a:srgbClr val="1E3A5F"/>
                </a:solidFill>
                <a:latin typeface="Calibri"/>
              </a:rPr>
              <a:t>Function Analysis Table</a:t>
            </a:r>
          </a:p>
          <a:p>
            <a:pPr algn="l"/>
          </a:p>
          <a:p>
            <a:pPr algn="l"/>
            <a:r>
              <a:rPr sz="1150" b="0" i="0" lang="en-US">
                <a:solidFill>
                  <a:srgbClr val="475569"/>
                </a:solidFill>
                <a:latin typeface="Calibri"/>
              </a:rPr>
              <a:t>HOT/COLD verdict, score, and budget per function</a:t>
            </a:r>
          </a:p>
        </p:txBody>
      </p:sp>
      <p:sp>
        <p:nvSpPr>
          <p:cNvPr id="15" name="P3Box"/>
          <p:cNvSpPr/>
          <p:nvPr/>
        </p:nvSpPr>
        <p:spPr>
          <a:xfrm>
            <a:off x="457200" y="2650000"/>
            <a:ext cx="3600000" cy="110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P3Tag"/>
          <p:cNvSpPr/>
          <p:nvPr/>
        </p:nvSpPr>
        <p:spPr>
          <a:xfrm>
            <a:off x="457200" y="2650000"/>
            <a:ext cx="3600000" cy="20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P3Txt"/>
          <p:cNvSpPr txBox="1"/>
          <p:nvPr/>
        </p:nvSpPr>
        <p:spPr>
          <a:xfrm>
            <a:off x="577200" y="2900000"/>
            <a:ext cx="33600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lang="en-US">
                <a:solidFill>
                  <a:srgbClr val="1E3A5F"/>
                </a:solidFill>
                <a:latin typeface="Calibri"/>
              </a:rPr>
              <a:t>Latency Bar Charts</a:t>
            </a:r>
          </a:p>
          <a:p>
            <a:pPr algn="l"/>
          </a:p>
          <a:p>
            <a:pPr algn="l"/>
            <a:r>
              <a:rPr sz="1150" b="0" i="0" lang="en-US">
                <a:solidFill>
                  <a:srgbClr val="475569"/>
                </a:solidFill>
                <a:latin typeface="Calibri"/>
              </a:rPr>
              <a:t>Side-by-side Before vs. After vs. -O3 comparison</a:t>
            </a:r>
          </a:p>
        </p:txBody>
      </p:sp>
      <p:sp>
        <p:nvSpPr>
          <p:cNvPr id="18" name="P4Box"/>
          <p:cNvSpPr/>
          <p:nvPr/>
        </p:nvSpPr>
        <p:spPr>
          <a:xfrm>
            <a:off x="4177200" y="2650000"/>
            <a:ext cx="3600000" cy="110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P4Tag"/>
          <p:cNvSpPr/>
          <p:nvPr/>
        </p:nvSpPr>
        <p:spPr>
          <a:xfrm>
            <a:off x="4177200" y="2650000"/>
            <a:ext cx="3600000" cy="20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P4Txt"/>
          <p:cNvSpPr txBox="1"/>
          <p:nvPr/>
        </p:nvSpPr>
        <p:spPr>
          <a:xfrm>
            <a:off x="4297200" y="2900000"/>
            <a:ext cx="33600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lang="en-US">
                <a:solidFill>
                  <a:srgbClr val="1E3A5F"/>
                </a:solidFill>
                <a:latin typeface="Calibri"/>
              </a:rPr>
              <a:t>Anti-Pattern Cards</a:t>
            </a:r>
          </a:p>
          <a:p>
            <a:pPr algn="l"/>
          </a:p>
          <a:p>
            <a:pPr algn="l"/>
            <a:r>
              <a:rPr sz="1150" b="0" i="0" lang="en-US">
                <a:solidFill>
                  <a:srgbClr val="475569"/>
                </a:solidFill>
                <a:latin typeface="Calibri"/>
              </a:rPr>
              <a:t>LAP-001 through LAP-010 detection status</a:t>
            </a:r>
          </a:p>
        </p:txBody>
      </p:sp>
      <p:sp>
        <p:nvSpPr>
          <p:cNvPr id="21" name="P5Box"/>
          <p:cNvSpPr/>
          <p:nvPr/>
        </p:nvSpPr>
        <p:spPr>
          <a:xfrm>
            <a:off x="7897200" y="2650000"/>
            <a:ext cx="3600000" cy="110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P5Tag"/>
          <p:cNvSpPr/>
          <p:nvPr/>
        </p:nvSpPr>
        <p:spPr>
          <a:xfrm>
            <a:off x="7897200" y="2650000"/>
            <a:ext cx="3600000" cy="20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P5Txt"/>
          <p:cNvSpPr txBox="1"/>
          <p:nvPr/>
        </p:nvSpPr>
        <p:spPr>
          <a:xfrm>
            <a:off x="8017200" y="2900000"/>
            <a:ext cx="33600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lang="en-US">
                <a:solidFill>
                  <a:srgbClr val="1E3A5F"/>
                </a:solidFill>
                <a:latin typeface="Calibri"/>
              </a:rPr>
              <a:t>Pass Timeline</a:t>
            </a:r>
          </a:p>
          <a:p>
            <a:pPr algn="l"/>
          </a:p>
          <a:p>
            <a:pPr algn="l"/>
            <a:r>
              <a:rPr sz="1150" b="0" i="0" lang="en-US">
                <a:solidFill>
                  <a:srgbClr val="475569"/>
                </a:solidFill>
                <a:latin typeface="Calibri"/>
              </a:rPr>
              <a:t>Sequential view of applied optimisation passes</a:t>
            </a:r>
          </a:p>
        </p:txBody>
      </p:sp>
      <p:sp>
        <p:nvSpPr>
          <p:cNvPr id="24" name="P6Box"/>
          <p:cNvSpPr/>
          <p:nvPr/>
        </p:nvSpPr>
        <p:spPr>
          <a:xfrm>
            <a:off x="457200" y="3850000"/>
            <a:ext cx="3600000" cy="110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P6Tag"/>
          <p:cNvSpPr/>
          <p:nvPr/>
        </p:nvSpPr>
        <p:spPr>
          <a:xfrm>
            <a:off x="457200" y="3850000"/>
            <a:ext cx="3600000" cy="20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P6Txt"/>
          <p:cNvSpPr txBox="1"/>
          <p:nvPr/>
        </p:nvSpPr>
        <p:spPr>
          <a:xfrm>
            <a:off x="577200" y="4100000"/>
            <a:ext cx="33600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lang="en-US">
                <a:solidFill>
                  <a:srgbClr val="1E3A5F"/>
                </a:solidFill>
                <a:latin typeface="Calibri"/>
              </a:rPr>
              <a:t>Reward Breakdown</a:t>
            </a:r>
          </a:p>
          <a:p>
            <a:pPr algn="l"/>
          </a:p>
          <a:p>
            <a:pPr algn="l"/>
            <a:r>
              <a:rPr sz="1150" b="0" i="0" lang="en-US">
                <a:solidFill>
                  <a:srgbClr val="475569"/>
                </a:solidFill>
                <a:latin typeface="Calibri"/>
              </a:rPr>
              <a:t>Weighted component bars for each function</a:t>
            </a:r>
          </a:p>
        </p:txBody>
      </p:sp>
      <p:sp>
        <p:nvSpPr>
          <p:cNvPr id="27" name="P7Box"/>
          <p:cNvSpPr/>
          <p:nvPr/>
        </p:nvSpPr>
        <p:spPr>
          <a:xfrm>
            <a:off x="4177200" y="3850000"/>
            <a:ext cx="3600000" cy="110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P7Tag"/>
          <p:cNvSpPr/>
          <p:nvPr/>
        </p:nvSpPr>
        <p:spPr>
          <a:xfrm>
            <a:off x="4177200" y="3850000"/>
            <a:ext cx="3600000" cy="20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P7Txt"/>
          <p:cNvSpPr txBox="1"/>
          <p:nvPr/>
        </p:nvSpPr>
        <p:spPr>
          <a:xfrm>
            <a:off x="4297200" y="4100000"/>
            <a:ext cx="33600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lang="en-US">
                <a:solidFill>
                  <a:srgbClr val="1E3A5F"/>
                </a:solidFill>
                <a:latin typeface="Calibri"/>
              </a:rPr>
              <a:t>Benchmark Panel</a:t>
            </a:r>
          </a:p>
          <a:p>
            <a:pPr algn="l"/>
          </a:p>
          <a:p>
            <a:pPr algn="l"/>
            <a:r>
              <a:rPr sz="1150" b="0" i="0" lang="en-US">
                <a:solidFill>
                  <a:srgbClr val="475569"/>
                </a:solidFill>
                <a:latin typeface="Calibri"/>
              </a:rPr>
              <a:t>AGentic_C vs. -O3 head-to-head summary</a:t>
            </a:r>
          </a:p>
        </p:txBody>
      </p:sp>
      <p:sp>
        <p:nvSpPr>
          <p:cNvPr id="30" name="P8Box"/>
          <p:cNvSpPr/>
          <p:nvPr/>
        </p:nvSpPr>
        <p:spPr>
          <a:xfrm>
            <a:off x="7897200" y="3850000"/>
            <a:ext cx="3600000" cy="110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P8Tag"/>
          <p:cNvSpPr/>
          <p:nvPr/>
        </p:nvSpPr>
        <p:spPr>
          <a:xfrm>
            <a:off x="7897200" y="3850000"/>
            <a:ext cx="3600000" cy="20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P8Txt"/>
          <p:cNvSpPr txBox="1"/>
          <p:nvPr/>
        </p:nvSpPr>
        <p:spPr>
          <a:xfrm>
            <a:off x="8017200" y="4100000"/>
            <a:ext cx="33600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lang="en-US">
                <a:solidFill>
                  <a:srgbClr val="1E3A5F"/>
                </a:solidFill>
                <a:latin typeface="Calibri"/>
              </a:rPr>
              <a:t>Explainability Log</a:t>
            </a:r>
          </a:p>
          <a:p>
            <a:pPr algn="l"/>
          </a:p>
          <a:p>
            <a:pPr algn="l"/>
            <a:r>
              <a:rPr sz="1150" b="0" i="0" lang="en-US">
                <a:solidFill>
                  <a:srgbClr val="475569"/>
                </a:solidFill>
                <a:latin typeface="Calibri"/>
              </a:rPr>
              <a:t>Natural-language rationale for every decision</a:t>
            </a:r>
          </a:p>
        </p:txBody>
      </p:sp>
      <p:sp>
        <p:nvSpPr>
          <p:cNvPr id="36" name="Footer"/>
          <p:cNvSpPr txBox="1"/>
          <p:nvPr/>
        </p:nvSpPr>
        <p:spPr>
          <a:xfrm>
            <a:off x="10800000" y="6706800"/>
            <a:ext cx="12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lang="en-US">
                <a:solidFill>
                  <a:srgbClr val="94A3B8"/>
                </a:solidFill>
                <a:latin typeface="Calibri"/>
              </a:rPr>
              <a:t>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457200" y="457200"/>
            <a:ext cx="54864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ectionLabel"/>
          <p:cNvSpPr txBox="1"/>
          <p:nvPr/>
        </p:nvSpPr>
        <p:spPr>
          <a:xfrm>
            <a:off x="548640" y="457200"/>
            <a:ext cx="40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lang="en-US">
                <a:solidFill>
                  <a:srgbClr val="2563EB"/>
                </a:solidFill>
                <a:latin typeface="Calibri"/>
              </a:rPr>
              <a:t>EVALUATION</a:t>
            </a:r>
          </a:p>
        </p:txBody>
      </p:sp>
      <p:sp>
        <p:nvSpPr>
          <p:cNvPr id="4" name="SlideTitle"/>
          <p:cNvSpPr txBox="1"/>
          <p:nvPr/>
        </p:nvSpPr>
        <p:spPr>
          <a:xfrm>
            <a:off x="548640" y="685800"/>
            <a:ext cx="1110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lang="en-US">
                <a:solidFill>
                  <a:srgbClr val="1E293B"/>
                </a:solidFill>
                <a:latin typeface="Calibri"/>
              </a:rPr>
              <a:t>Experimental Setup</a:t>
            </a:r>
          </a:p>
        </p:txBody>
      </p:sp>
      <p:sp>
        <p:nvSpPr>
          <p:cNvPr id="5" name="TitleDivider"/>
          <p:cNvSpPr/>
          <p:nvPr/>
        </p:nvSpPr>
        <p:spPr>
          <a:xfrm>
            <a:off x="457200" y="1280160"/>
            <a:ext cx="112788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etupBox"/>
          <p:cNvSpPr/>
          <p:nvPr/>
        </p:nvSpPr>
        <p:spPr>
          <a:xfrm>
            <a:off x="457200" y="1420000"/>
            <a:ext cx="5440000" cy="300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SetupHdr"/>
          <p:cNvSpPr txBox="1"/>
          <p:nvPr/>
        </p:nvSpPr>
        <p:spPr>
          <a:xfrm>
            <a:off x="640000" y="1500000"/>
            <a:ext cx="50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lang="en-US">
                <a:solidFill>
                  <a:srgbClr val="1E3A5F"/>
                </a:solidFill>
                <a:latin typeface="Calibri"/>
              </a:rPr>
              <a:t>Hardware &amp; Software Environment</a:t>
            </a:r>
          </a:p>
        </p:txBody>
      </p:sp>
      <p:sp>
        <p:nvSpPr>
          <p:cNvPr id="8" name="Setup0"/>
          <p:cNvSpPr txBox="1"/>
          <p:nvPr/>
        </p:nvSpPr>
        <p:spPr>
          <a:xfrm>
            <a:off x="640000" y="194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 xml:space="preserve">  Apple M4 Pro (arm64, NEON SIMD)</a:t>
            </a:r>
          </a:p>
        </p:txBody>
      </p:sp>
      <p:sp>
        <p:nvSpPr>
          <p:cNvPr id="9" name="Setup1"/>
          <p:cNvSpPr txBox="1"/>
          <p:nvPr/>
        </p:nvSpPr>
        <p:spPr>
          <a:xfrm>
            <a:off x="640000" y="24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 xml:space="preserve">  Python 3.9.6 — standard library only for core modules</a:t>
            </a:r>
          </a:p>
        </p:txBody>
      </p:sp>
      <p:sp>
        <p:nvSpPr>
          <p:cNvPr id="10" name="Setup2"/>
          <p:cNvSpPr txBox="1"/>
          <p:nvPr/>
        </p:nvSpPr>
        <p:spPr>
          <a:xfrm>
            <a:off x="640000" y="286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 xml:space="preserve">  Stub compilation mode (real LLVM backend not required)</a:t>
            </a:r>
          </a:p>
        </p:txBody>
      </p:sp>
      <p:sp>
        <p:nvSpPr>
          <p:cNvPr id="11" name="Setup3"/>
          <p:cNvSpPr txBox="1"/>
          <p:nvPr/>
        </p:nvSpPr>
        <p:spPr>
          <a:xfrm>
            <a:off x="640000" y="332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 xml:space="preserve">  LatencyCostModel calibrated for M4 Pro cost tables</a:t>
            </a:r>
          </a:p>
        </p:txBody>
      </p:sp>
      <p:sp>
        <p:nvSpPr>
          <p:cNvPr id="12" name="Setup4"/>
          <p:cNvSpPr txBox="1"/>
          <p:nvPr/>
        </p:nvSpPr>
        <p:spPr>
          <a:xfrm>
            <a:off x="640000" y="378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 xml:space="preserve">  Benchmark source: examples/hft_strategy.cpp</a:t>
            </a:r>
          </a:p>
        </p:txBody>
      </p:sp>
      <p:sp>
        <p:nvSpPr>
          <p:cNvPr id="16" name="MetBox"/>
          <p:cNvSpPr/>
          <p:nvPr/>
        </p:nvSpPr>
        <p:spPr>
          <a:xfrm>
            <a:off x="6294000" y="1420000"/>
            <a:ext cx="5440000" cy="300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MetHdr"/>
          <p:cNvSpPr txBox="1"/>
          <p:nvPr/>
        </p:nvSpPr>
        <p:spPr>
          <a:xfrm>
            <a:off x="6450000" y="1500000"/>
            <a:ext cx="50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lang="en-US">
                <a:solidFill>
                  <a:srgbClr val="1E3A5F"/>
                </a:solidFill>
                <a:latin typeface="Calibri"/>
              </a:rPr>
              <a:t>Measured Metrics</a:t>
            </a:r>
          </a:p>
        </p:txBody>
      </p:sp>
      <p:sp>
        <p:nvSpPr>
          <p:cNvPr id="18" name="Met0"/>
          <p:cNvSpPr txBox="1"/>
          <p:nvPr/>
        </p:nvSpPr>
        <p:spPr>
          <a:xfrm>
            <a:off x="6450000" y="194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 xml:space="preserve">  Latency reduction (%)</a:t>
            </a:r>
          </a:p>
        </p:txBody>
      </p:sp>
      <p:sp>
        <p:nvSpPr>
          <p:cNvPr id="19" name="Met1"/>
          <p:cNvSpPr txBox="1"/>
          <p:nvPr/>
        </p:nvSpPr>
        <p:spPr>
          <a:xfrm>
            <a:off x="6450000" y="24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 xml:space="preserve">  Instruction count reduction (%)</a:t>
            </a:r>
          </a:p>
        </p:txBody>
      </p:sp>
      <p:sp>
        <p:nvSpPr>
          <p:cNvPr id="20" name="Met2"/>
          <p:cNvSpPr txBox="1"/>
          <p:nvPr/>
        </p:nvSpPr>
        <p:spPr>
          <a:xfrm>
            <a:off x="6450000" y="286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 xml:space="preserve">  HOT functions within nanosecond budget (%)</a:t>
            </a:r>
          </a:p>
        </p:txBody>
      </p:sp>
      <p:sp>
        <p:nvSpPr>
          <p:cNvPr id="21" name="Met3"/>
          <p:cNvSpPr txBox="1"/>
          <p:nvPr/>
        </p:nvSpPr>
        <p:spPr>
          <a:xfrm>
            <a:off x="6450000" y="332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 xml:space="preserve">  Composite reward score R in [0, 1]</a:t>
            </a:r>
          </a:p>
        </p:txBody>
      </p:sp>
      <p:sp>
        <p:nvSpPr>
          <p:cNvPr id="22" name="Met4"/>
          <p:cNvSpPr txBox="1"/>
          <p:nvPr/>
        </p:nvSpPr>
        <p:spPr>
          <a:xfrm>
            <a:off x="6450000" y="378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 xml:space="preserve">  Winning phase-order sequence vs. default</a:t>
            </a:r>
          </a:p>
        </p:txBody>
      </p:sp>
      <p:sp>
        <p:nvSpPr>
          <p:cNvPr id="31" name="FuncHdr"/>
          <p:cNvSpPr txBox="1"/>
          <p:nvPr/>
        </p:nvSpPr>
        <p:spPr>
          <a:xfrm>
            <a:off x="457200" y="4600000"/>
            <a:ext cx="11278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lang="en-US">
                <a:solidFill>
                  <a:srgbClr val="1E3A5F"/>
                </a:solidFill>
                <a:latin typeface="Calibri"/>
              </a:rPr>
              <a:t>Test Workload: hft_strategy.cpp — 4 HOT + 2 COLD Functions</a:t>
            </a:r>
          </a:p>
        </p:txBody>
      </p:sp>
      <p:sp>
        <p:nvSpPr>
          <p:cNvPr id="32" name="Func0"/>
          <p:cNvSpPr txBox="1"/>
          <p:nvPr/>
        </p:nvSpPr>
        <p:spPr>
          <a:xfrm>
            <a:off x="457200" y="5100000"/>
            <a:ext cx="112788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lang="en-US">
                <a:solidFill>
                  <a:srgbClr val="1E3A5F"/>
                </a:solidFill>
                <a:latin typeface="Consolas"/>
              </a:rPr>
              <a:t xml:space="preserve">  on_market_data</a:t>
            </a:r>
            <a:r>
              <a:rPr sz="1200" b="0" i="0" lang="en-US">
                <a:solidFill>
                  <a:srgbClr val="475569"/>
                </a:solidFill>
                <a:latin typeface="Calibri"/>
              </a:rPr>
              <a:t xml:space="preserve">   |   LAP-001 (heap alloc) + LAP-005 (printf)</a:t>
            </a:r>
            <a:r>
              <a:rPr sz="1200" b="1" i="0" lang="en-US">
                <a:solidFill>
                  <a:srgbClr val="0891B2"/>
                </a:solidFill>
                <a:latin typeface="Calibri"/>
              </a:rPr>
              <a:t xml:space="preserve">   |   Budget: 200 ns</a:t>
            </a:r>
          </a:p>
        </p:txBody>
      </p:sp>
      <p:sp>
        <p:nvSpPr>
          <p:cNvPr id="33" name="Func1"/>
          <p:cNvSpPr txBox="1"/>
          <p:nvPr/>
        </p:nvSpPr>
        <p:spPr>
          <a:xfrm>
            <a:off x="457200" y="5460000"/>
            <a:ext cx="112788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lang="en-US">
                <a:solidFill>
                  <a:srgbClr val="1E3A5F"/>
                </a:solidFill>
                <a:latin typeface="Consolas"/>
              </a:rPr>
              <a:t xml:space="preserve">  evaluate_signal</a:t>
            </a:r>
            <a:r>
              <a:rPr sz="1200" b="0" i="0" lang="en-US">
                <a:solidFill>
                  <a:srgbClr val="475569"/>
                </a:solidFill>
                <a:latin typeface="Calibri"/>
              </a:rPr>
              <a:t xml:space="preserve">   |   LAP-002 (virtual dispatch) + LAP-010 (branches)</a:t>
            </a:r>
            <a:r>
              <a:rPr sz="1200" b="1" i="0" lang="en-US">
                <a:solidFill>
                  <a:srgbClr val="0891B2"/>
                </a:solidFill>
                <a:latin typeface="Calibri"/>
              </a:rPr>
              <a:t xml:space="preserve">   |   Budget: 400 ns</a:t>
            </a:r>
          </a:p>
        </p:txBody>
      </p:sp>
      <p:sp>
        <p:nvSpPr>
          <p:cNvPr id="34" name="Func2"/>
          <p:cNvSpPr txBox="1"/>
          <p:nvPr/>
        </p:nvSpPr>
        <p:spPr>
          <a:xfrm>
            <a:off x="457200" y="5820000"/>
            <a:ext cx="112788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lang="en-US">
                <a:solidFill>
                  <a:srgbClr val="1E3A5F"/>
                </a:solidFill>
                <a:latin typeface="Consolas"/>
              </a:rPr>
              <a:t xml:space="preserve">  check_risk</a:t>
            </a:r>
            <a:r>
              <a:rPr sz="1200" b="0" i="0" lang="en-US">
                <a:solidFill>
                  <a:srgbClr val="475569"/>
                </a:solidFill>
                <a:latin typeface="Calibri"/>
              </a:rPr>
              <a:t xml:space="preserve">   |   Clean hot path — no anti-patterns</a:t>
            </a:r>
            <a:r>
              <a:rPr sz="1200" b="1" i="0" lang="en-US">
                <a:solidFill>
                  <a:srgbClr val="0891B2"/>
                </a:solidFill>
                <a:latin typeface="Calibri"/>
              </a:rPr>
              <a:t xml:space="preserve">   |   Budget: 150 ns</a:t>
            </a:r>
          </a:p>
        </p:txBody>
      </p:sp>
      <p:sp>
        <p:nvSpPr>
          <p:cNvPr id="35" name="Func3"/>
          <p:cNvSpPr txBox="1"/>
          <p:nvPr/>
        </p:nvSpPr>
        <p:spPr>
          <a:xfrm>
            <a:off x="457200" y="6180000"/>
            <a:ext cx="112788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lang="en-US">
                <a:solidFill>
                  <a:srgbClr val="1E3A5F"/>
                </a:solidFill>
                <a:latin typeface="Consolas"/>
              </a:rPr>
              <a:t xml:space="preserve">  submit_order</a:t>
            </a:r>
            <a:r>
              <a:rPr sz="1200" b="0" i="0" lang="en-US">
                <a:solidFill>
                  <a:srgbClr val="475569"/>
                </a:solidFill>
                <a:latin typeface="Calibri"/>
              </a:rPr>
              <a:t xml:space="preserve">   |   LAP-003 (throw) + LAP-006 (std::function)</a:t>
            </a:r>
            <a:r>
              <a:rPr sz="1200" b="1" i="0" lang="en-US">
                <a:solidFill>
                  <a:srgbClr val="0891B2"/>
                </a:solidFill>
                <a:latin typeface="Calibri"/>
              </a:rPr>
              <a:t xml:space="preserve">   |   Budget: 250 ns</a:t>
            </a:r>
          </a:p>
        </p:txBody>
      </p:sp>
      <p:sp>
        <p:nvSpPr>
          <p:cNvPr id="38" name="Footer"/>
          <p:cNvSpPr txBox="1"/>
          <p:nvPr/>
        </p:nvSpPr>
        <p:spPr>
          <a:xfrm>
            <a:off x="10800000" y="6706800"/>
            <a:ext cx="12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lang="en-US">
                <a:solidFill>
                  <a:srgbClr val="94A3B8"/>
                </a:solidFill>
                <a:latin typeface="Calibri"/>
              </a:rPr>
              <a:t>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457200" y="457200"/>
            <a:ext cx="54864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ectionLabel"/>
          <p:cNvSpPr txBox="1"/>
          <p:nvPr/>
        </p:nvSpPr>
        <p:spPr>
          <a:xfrm>
            <a:off x="548640" y="457200"/>
            <a:ext cx="40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lang="en-US">
                <a:solidFill>
                  <a:srgbClr val="2563EB"/>
                </a:solidFill>
                <a:latin typeface="Calibri"/>
              </a:rPr>
              <a:t>EVALUATION</a:t>
            </a:r>
          </a:p>
        </p:txBody>
      </p:sp>
      <p:sp>
        <p:nvSpPr>
          <p:cNvPr id="4" name="SlideTitle"/>
          <p:cNvSpPr txBox="1"/>
          <p:nvPr/>
        </p:nvSpPr>
        <p:spPr>
          <a:xfrm>
            <a:off x="548640" y="685800"/>
            <a:ext cx="1110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lang="en-US">
                <a:solidFill>
                  <a:srgbClr val="1E293B"/>
                </a:solidFill>
                <a:latin typeface="Calibri"/>
              </a:rPr>
              <a:t>Per-Function Optimisation Results</a:t>
            </a:r>
          </a:p>
        </p:txBody>
      </p:sp>
      <p:sp>
        <p:nvSpPr>
          <p:cNvPr id="5" name="TitleDivider"/>
          <p:cNvSpPr/>
          <p:nvPr/>
        </p:nvSpPr>
        <p:spPr>
          <a:xfrm>
            <a:off x="457200" y="1280160"/>
            <a:ext cx="112788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blHdr"/>
          <p:cNvSpPr/>
          <p:nvPr/>
        </p:nvSpPr>
        <p:spPr>
          <a:xfrm>
            <a:off x="457200" y="1450000"/>
            <a:ext cx="11278800" cy="42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H0"/>
          <p:cNvSpPr txBox="1"/>
          <p:nvPr/>
        </p:nvSpPr>
        <p:spPr>
          <a:xfrm>
            <a:off x="537200" y="1490000"/>
            <a:ext cx="21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lang="en-US">
                <a:solidFill>
                  <a:srgbClr val="FFFFFF"/>
                </a:solidFill>
                <a:latin typeface="Calibri"/>
              </a:rPr>
              <a:t>Function</a:t>
            </a:r>
          </a:p>
        </p:txBody>
      </p:sp>
      <p:sp>
        <p:nvSpPr>
          <p:cNvPr id="8" name="H1"/>
          <p:cNvSpPr txBox="1"/>
          <p:nvPr/>
        </p:nvSpPr>
        <p:spPr>
          <a:xfrm>
            <a:off x="2880000" y="1490000"/>
            <a:ext cx="1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lang="en-US">
                <a:solidFill>
                  <a:srgbClr val="FFFFFF"/>
                </a:solidFill>
                <a:latin typeface="Calibri"/>
              </a:rPr>
              <a:t>Score</a:t>
            </a:r>
          </a:p>
        </p:txBody>
      </p:sp>
      <p:sp>
        <p:nvSpPr>
          <p:cNvPr id="9" name="H2"/>
          <p:cNvSpPr txBox="1"/>
          <p:nvPr/>
        </p:nvSpPr>
        <p:spPr>
          <a:xfrm>
            <a:off x="4680000" y="1490000"/>
            <a:ext cx="1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lang="en-US">
                <a:solidFill>
                  <a:srgbClr val="FFFFFF"/>
                </a:solidFill>
                <a:latin typeface="Calibri"/>
              </a:rPr>
              <a:t>Lat. Before</a:t>
            </a:r>
          </a:p>
        </p:txBody>
      </p:sp>
      <p:sp>
        <p:nvSpPr>
          <p:cNvPr id="10" name="H3"/>
          <p:cNvSpPr txBox="1"/>
          <p:nvPr/>
        </p:nvSpPr>
        <p:spPr>
          <a:xfrm>
            <a:off x="6480000" y="1490000"/>
            <a:ext cx="1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lang="en-US">
                <a:solidFill>
                  <a:srgbClr val="FFFFFF"/>
                </a:solidFill>
                <a:latin typeface="Calibri"/>
              </a:rPr>
              <a:t>Lat. After</a:t>
            </a:r>
          </a:p>
        </p:txBody>
      </p:sp>
      <p:sp>
        <p:nvSpPr>
          <p:cNvPr id="11" name="H4"/>
          <p:cNvSpPr txBox="1"/>
          <p:nvPr/>
        </p:nvSpPr>
        <p:spPr>
          <a:xfrm>
            <a:off x="8280000" y="1490000"/>
            <a:ext cx="18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lang="en-US">
                <a:solidFill>
                  <a:srgbClr val="FFFFFF"/>
                </a:solidFill>
                <a:latin typeface="Calibri"/>
              </a:rPr>
              <a:t>Reduction</a:t>
            </a:r>
          </a:p>
        </p:txBody>
      </p:sp>
      <p:sp>
        <p:nvSpPr>
          <p:cNvPr id="12" name="H5"/>
          <p:cNvSpPr txBox="1"/>
          <p:nvPr/>
        </p:nvSpPr>
        <p:spPr>
          <a:xfrm>
            <a:off x="10280000" y="1490000"/>
            <a:ext cx="1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lang="en-US">
                <a:solidFill>
                  <a:srgbClr val="FFFFFF"/>
                </a:solidFill>
                <a:latin typeface="Calibri"/>
              </a:rPr>
              <a:t>Verdict</a:t>
            </a:r>
          </a:p>
        </p:txBody>
      </p:sp>
      <p:sp>
        <p:nvSpPr>
          <p:cNvPr id="16" name="Row0"/>
          <p:cNvSpPr/>
          <p:nvPr/>
        </p:nvSpPr>
        <p:spPr>
          <a:xfrm>
            <a:off x="457200" y="1900000"/>
            <a:ext cx="11278800" cy="49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R0C0"/>
          <p:cNvSpPr txBox="1"/>
          <p:nvPr/>
        </p:nvSpPr>
        <p:spPr>
          <a:xfrm>
            <a:off x="537200" y="1980000"/>
            <a:ext cx="212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lang="en-US">
                <a:solidFill>
                  <a:srgbClr val="1E293B"/>
                </a:solidFill>
                <a:latin typeface="Calibri"/>
              </a:rPr>
              <a:t>on_market_data</a:t>
            </a:r>
          </a:p>
        </p:txBody>
      </p:sp>
      <p:sp>
        <p:nvSpPr>
          <p:cNvPr id="27" name="R0C1"/>
          <p:cNvSpPr txBox="1"/>
          <p:nvPr/>
        </p:nvSpPr>
        <p:spPr>
          <a:xfrm>
            <a:off x="2880000" y="1980000"/>
            <a:ext cx="162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>100/100</a:t>
            </a:r>
          </a:p>
        </p:txBody>
      </p:sp>
      <p:sp>
        <p:nvSpPr>
          <p:cNvPr id="28" name="R0C2"/>
          <p:cNvSpPr txBox="1"/>
          <p:nvPr/>
        </p:nvSpPr>
        <p:spPr>
          <a:xfrm>
            <a:off x="4680000" y="1980000"/>
            <a:ext cx="162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>185 ns</a:t>
            </a:r>
          </a:p>
        </p:txBody>
      </p:sp>
      <p:sp>
        <p:nvSpPr>
          <p:cNvPr id="29" name="R0C3"/>
          <p:cNvSpPr txBox="1"/>
          <p:nvPr/>
        </p:nvSpPr>
        <p:spPr>
          <a:xfrm>
            <a:off x="6480000" y="1980000"/>
            <a:ext cx="162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>94 ns</a:t>
            </a:r>
          </a:p>
        </p:txBody>
      </p:sp>
      <p:sp>
        <p:nvSpPr>
          <p:cNvPr id="30" name="R0C4"/>
          <p:cNvSpPr txBox="1"/>
          <p:nvPr/>
        </p:nvSpPr>
        <p:spPr>
          <a:xfrm>
            <a:off x="8280000" y="1980000"/>
            <a:ext cx="182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3A5F"/>
                </a:solidFill>
                <a:latin typeface="Calibri"/>
              </a:rPr>
              <a:t>−49.2%</a:t>
            </a:r>
          </a:p>
        </p:txBody>
      </p:sp>
      <p:sp>
        <p:nvSpPr>
          <p:cNvPr id="31" name="R0C5"/>
          <p:cNvSpPr txBox="1"/>
          <p:nvPr/>
        </p:nvSpPr>
        <p:spPr>
          <a:xfrm>
            <a:off x="10280000" y="1980000"/>
            <a:ext cx="162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lang="en-US">
                <a:solidFill>
                  <a:srgbClr val="16A34A"/>
                </a:solidFill>
                <a:latin typeface="Calibri"/>
              </a:rPr>
              <a:t>PASS</a:t>
            </a:r>
          </a:p>
        </p:txBody>
      </p:sp>
      <p:sp>
        <p:nvSpPr>
          <p:cNvPr id="17" name="Row1"/>
          <p:cNvSpPr/>
          <p:nvPr/>
        </p:nvSpPr>
        <p:spPr>
          <a:xfrm>
            <a:off x="457200" y="2440000"/>
            <a:ext cx="11278800" cy="49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R1C0"/>
          <p:cNvSpPr txBox="1"/>
          <p:nvPr/>
        </p:nvSpPr>
        <p:spPr>
          <a:xfrm>
            <a:off x="537200" y="2520000"/>
            <a:ext cx="212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lang="en-US">
                <a:solidFill>
                  <a:srgbClr val="1E293B"/>
                </a:solidFill>
                <a:latin typeface="Calibri"/>
              </a:rPr>
              <a:t>evaluate_signal</a:t>
            </a:r>
          </a:p>
        </p:txBody>
      </p:sp>
      <p:sp>
        <p:nvSpPr>
          <p:cNvPr id="33" name="R1C1"/>
          <p:cNvSpPr txBox="1"/>
          <p:nvPr/>
        </p:nvSpPr>
        <p:spPr>
          <a:xfrm>
            <a:off x="2880000" y="2520000"/>
            <a:ext cx="162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>100/100</a:t>
            </a:r>
          </a:p>
        </p:txBody>
      </p:sp>
      <p:sp>
        <p:nvSpPr>
          <p:cNvPr id="34" name="R1C2"/>
          <p:cNvSpPr txBox="1"/>
          <p:nvPr/>
        </p:nvSpPr>
        <p:spPr>
          <a:xfrm>
            <a:off x="4680000" y="2520000"/>
            <a:ext cx="162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>312 ns</a:t>
            </a:r>
          </a:p>
        </p:txBody>
      </p:sp>
      <p:sp>
        <p:nvSpPr>
          <p:cNvPr id="35" name="R1C3"/>
          <p:cNvSpPr txBox="1"/>
          <p:nvPr/>
        </p:nvSpPr>
        <p:spPr>
          <a:xfrm>
            <a:off x="6480000" y="2520000"/>
            <a:ext cx="162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>198 ns</a:t>
            </a:r>
          </a:p>
        </p:txBody>
      </p:sp>
      <p:sp>
        <p:nvSpPr>
          <p:cNvPr id="36" name="R1C4"/>
          <p:cNvSpPr txBox="1"/>
          <p:nvPr/>
        </p:nvSpPr>
        <p:spPr>
          <a:xfrm>
            <a:off x="8280000" y="2520000"/>
            <a:ext cx="182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3A5F"/>
                </a:solidFill>
                <a:latin typeface="Calibri"/>
              </a:rPr>
              <a:t>−36.4%</a:t>
            </a:r>
          </a:p>
        </p:txBody>
      </p:sp>
      <p:sp>
        <p:nvSpPr>
          <p:cNvPr id="37" name="R1C5"/>
          <p:cNvSpPr txBox="1"/>
          <p:nvPr/>
        </p:nvSpPr>
        <p:spPr>
          <a:xfrm>
            <a:off x="10280000" y="2520000"/>
            <a:ext cx="162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lang="en-US">
                <a:solidFill>
                  <a:srgbClr val="16A34A"/>
                </a:solidFill>
                <a:latin typeface="Calibri"/>
              </a:rPr>
              <a:t>PASS</a:t>
            </a:r>
          </a:p>
        </p:txBody>
      </p:sp>
      <p:sp>
        <p:nvSpPr>
          <p:cNvPr id="18" name="Row2"/>
          <p:cNvSpPr/>
          <p:nvPr/>
        </p:nvSpPr>
        <p:spPr>
          <a:xfrm>
            <a:off x="457200" y="2980000"/>
            <a:ext cx="11278800" cy="49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R2C0"/>
          <p:cNvSpPr txBox="1"/>
          <p:nvPr/>
        </p:nvSpPr>
        <p:spPr>
          <a:xfrm>
            <a:off x="537200" y="3060000"/>
            <a:ext cx="212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lang="en-US">
                <a:solidFill>
                  <a:srgbClr val="1E293B"/>
                </a:solidFill>
                <a:latin typeface="Calibri"/>
              </a:rPr>
              <a:t>check_risk</a:t>
            </a:r>
          </a:p>
        </p:txBody>
      </p:sp>
      <p:sp>
        <p:nvSpPr>
          <p:cNvPr id="39" name="R2C1"/>
          <p:cNvSpPr txBox="1"/>
          <p:nvPr/>
        </p:nvSpPr>
        <p:spPr>
          <a:xfrm>
            <a:off x="2880000" y="3060000"/>
            <a:ext cx="162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>75/100</a:t>
            </a:r>
          </a:p>
        </p:txBody>
      </p:sp>
      <p:sp>
        <p:nvSpPr>
          <p:cNvPr id="40" name="R2C2"/>
          <p:cNvSpPr txBox="1"/>
          <p:nvPr/>
        </p:nvSpPr>
        <p:spPr>
          <a:xfrm>
            <a:off x="4680000" y="3060000"/>
            <a:ext cx="162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>42 ns</a:t>
            </a:r>
          </a:p>
        </p:txBody>
      </p:sp>
      <p:sp>
        <p:nvSpPr>
          <p:cNvPr id="41" name="R2C3"/>
          <p:cNvSpPr txBox="1"/>
          <p:nvPr/>
        </p:nvSpPr>
        <p:spPr>
          <a:xfrm>
            <a:off x="6480000" y="3060000"/>
            <a:ext cx="162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>28 ns</a:t>
            </a:r>
          </a:p>
        </p:txBody>
      </p:sp>
      <p:sp>
        <p:nvSpPr>
          <p:cNvPr id="42" name="R2C4"/>
          <p:cNvSpPr txBox="1"/>
          <p:nvPr/>
        </p:nvSpPr>
        <p:spPr>
          <a:xfrm>
            <a:off x="8280000" y="3060000"/>
            <a:ext cx="182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3A5F"/>
                </a:solidFill>
                <a:latin typeface="Calibri"/>
              </a:rPr>
              <a:t>−33.3%</a:t>
            </a:r>
          </a:p>
        </p:txBody>
      </p:sp>
      <p:sp>
        <p:nvSpPr>
          <p:cNvPr id="43" name="R2C5"/>
          <p:cNvSpPr txBox="1"/>
          <p:nvPr/>
        </p:nvSpPr>
        <p:spPr>
          <a:xfrm>
            <a:off x="10280000" y="3060000"/>
            <a:ext cx="162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lang="en-US">
                <a:solidFill>
                  <a:srgbClr val="16A34A"/>
                </a:solidFill>
                <a:latin typeface="Calibri"/>
              </a:rPr>
              <a:t>PASS</a:t>
            </a:r>
          </a:p>
        </p:txBody>
      </p:sp>
      <p:sp>
        <p:nvSpPr>
          <p:cNvPr id="19" name="Row3"/>
          <p:cNvSpPr/>
          <p:nvPr/>
        </p:nvSpPr>
        <p:spPr>
          <a:xfrm>
            <a:off x="457200" y="3520000"/>
            <a:ext cx="11278800" cy="49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R3C0"/>
          <p:cNvSpPr txBox="1"/>
          <p:nvPr/>
        </p:nvSpPr>
        <p:spPr>
          <a:xfrm>
            <a:off x="537200" y="3600000"/>
            <a:ext cx="212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lang="en-US">
                <a:solidFill>
                  <a:srgbClr val="1E293B"/>
                </a:solidFill>
                <a:latin typeface="Calibri"/>
              </a:rPr>
              <a:t>submit_order</a:t>
            </a:r>
          </a:p>
        </p:txBody>
      </p:sp>
      <p:sp>
        <p:nvSpPr>
          <p:cNvPr id="45" name="R3C1"/>
          <p:cNvSpPr txBox="1"/>
          <p:nvPr/>
        </p:nvSpPr>
        <p:spPr>
          <a:xfrm>
            <a:off x="2880000" y="3600000"/>
            <a:ext cx="162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>55/100</a:t>
            </a:r>
          </a:p>
        </p:txBody>
      </p:sp>
      <p:sp>
        <p:nvSpPr>
          <p:cNvPr id="46" name="R3C2"/>
          <p:cNvSpPr txBox="1"/>
          <p:nvPr/>
        </p:nvSpPr>
        <p:spPr>
          <a:xfrm>
            <a:off x="4680000" y="3600000"/>
            <a:ext cx="162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>290 ns</a:t>
            </a:r>
          </a:p>
        </p:txBody>
      </p:sp>
      <p:sp>
        <p:nvSpPr>
          <p:cNvPr id="47" name="R3C3"/>
          <p:cNvSpPr txBox="1"/>
          <p:nvPr/>
        </p:nvSpPr>
        <p:spPr>
          <a:xfrm>
            <a:off x="6480000" y="3600000"/>
            <a:ext cx="162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>265 ns</a:t>
            </a:r>
          </a:p>
        </p:txBody>
      </p:sp>
      <p:sp>
        <p:nvSpPr>
          <p:cNvPr id="48" name="R3C4"/>
          <p:cNvSpPr txBox="1"/>
          <p:nvPr/>
        </p:nvSpPr>
        <p:spPr>
          <a:xfrm>
            <a:off x="8280000" y="3600000"/>
            <a:ext cx="182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3A5F"/>
                </a:solidFill>
                <a:latin typeface="Calibri"/>
              </a:rPr>
              <a:t>−8.5%</a:t>
            </a:r>
          </a:p>
        </p:txBody>
      </p:sp>
      <p:sp>
        <p:nvSpPr>
          <p:cNvPr id="49" name="R3C5"/>
          <p:cNvSpPr txBox="1"/>
          <p:nvPr/>
        </p:nvSpPr>
        <p:spPr>
          <a:xfrm>
            <a:off x="10280000" y="3600000"/>
            <a:ext cx="162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lang="en-US">
                <a:solidFill>
                  <a:srgbClr val="DC2626"/>
                </a:solidFill>
                <a:latin typeface="Calibri"/>
              </a:rPr>
              <a:t>FAIL</a:t>
            </a:r>
          </a:p>
        </p:txBody>
      </p:sp>
      <p:sp>
        <p:nvSpPr>
          <p:cNvPr id="56" name="SumBox"/>
          <p:cNvSpPr/>
          <p:nvPr/>
        </p:nvSpPr>
        <p:spPr>
          <a:xfrm>
            <a:off x="457200" y="4200000"/>
            <a:ext cx="11278800" cy="40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SumTxt"/>
          <p:cNvSpPr txBox="1"/>
          <p:nvPr/>
        </p:nvSpPr>
        <p:spPr>
          <a:xfrm>
            <a:off x="640000" y="4260000"/>
            <a:ext cx="11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 lang="en-US">
                <a:solidFill>
                  <a:srgbClr val="1E3A5F"/>
                </a:solidFill>
                <a:latin typeface="Calibri"/>
              </a:rPr>
              <a:t>3 of 4 HOT functions within budget   |   Average latency reduction: 41.2%   |   Composite reward: 0.7832</a:t>
            </a:r>
          </a:p>
        </p:txBody>
      </p:sp>
      <p:sp>
        <p:nvSpPr>
          <p:cNvPr id="61" name="Footer"/>
          <p:cNvSpPr txBox="1"/>
          <p:nvPr/>
        </p:nvSpPr>
        <p:spPr>
          <a:xfrm>
            <a:off x="10800000" y="6706800"/>
            <a:ext cx="12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lang="en-US">
                <a:solidFill>
                  <a:srgbClr val="94A3B8"/>
                </a:solidFill>
                <a:latin typeface="Calibri"/>
              </a:rPr>
              <a:t>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457200" y="457200"/>
            <a:ext cx="54864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ectionLabel"/>
          <p:cNvSpPr txBox="1"/>
          <p:nvPr/>
        </p:nvSpPr>
        <p:spPr>
          <a:xfrm>
            <a:off x="548640" y="457200"/>
            <a:ext cx="40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lang="en-US">
                <a:solidFill>
                  <a:srgbClr val="2563EB"/>
                </a:solidFill>
                <a:latin typeface="Calibri"/>
              </a:rPr>
              <a:t>EVALUATION</a:t>
            </a:r>
          </a:p>
        </p:txBody>
      </p:sp>
      <p:sp>
        <p:nvSpPr>
          <p:cNvPr id="4" name="SlideTitle"/>
          <p:cNvSpPr txBox="1"/>
          <p:nvPr/>
        </p:nvSpPr>
        <p:spPr>
          <a:xfrm>
            <a:off x="548640" y="685800"/>
            <a:ext cx="1110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lang="en-US">
                <a:solidFill>
                  <a:srgbClr val="1E293B"/>
                </a:solidFill>
                <a:latin typeface="Calibri"/>
              </a:rPr>
              <a:t>Benchmark: Standard -O3 vs. AGentic_C</a:t>
            </a:r>
          </a:p>
        </p:txBody>
      </p:sp>
      <p:sp>
        <p:nvSpPr>
          <p:cNvPr id="5" name="TitleDivider"/>
          <p:cNvSpPr/>
          <p:nvPr/>
        </p:nvSpPr>
        <p:spPr>
          <a:xfrm>
            <a:off x="457200" y="1280160"/>
            <a:ext cx="112788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O3Box"/>
          <p:cNvSpPr/>
          <p:nvPr/>
        </p:nvSpPr>
        <p:spPr>
          <a:xfrm>
            <a:off x="457200" y="1450000"/>
            <a:ext cx="5140000" cy="46000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O3Hdr"/>
          <p:cNvSpPr/>
          <p:nvPr/>
        </p:nvSpPr>
        <p:spPr>
          <a:xfrm>
            <a:off x="457200" y="1450000"/>
            <a:ext cx="5140000" cy="360000"/>
          </a:xfrm>
          <a:prstGeom prst="rect">
            <a:avLst/>
          </a:prstGeom>
          <a:solidFill>
            <a:srgbClr val="DC262633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O3T"/>
          <p:cNvSpPr txBox="1"/>
          <p:nvPr/>
        </p:nvSpPr>
        <p:spPr>
          <a:xfrm>
            <a:off x="640000" y="1490000"/>
            <a:ext cx="4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lang="en-US">
                <a:solidFill>
                  <a:srgbClr val="DC2626"/>
                </a:solidFill>
                <a:latin typeface="Calibri"/>
              </a:rPr>
              <a:t>Standard -O3</a:t>
            </a:r>
          </a:p>
        </p:txBody>
      </p:sp>
      <p:sp>
        <p:nvSpPr>
          <p:cNvPr id="9" name="O3I0"/>
          <p:cNvSpPr txBox="1"/>
          <p:nvPr/>
        </p:nvSpPr>
        <p:spPr>
          <a:xfrm>
            <a:off x="640000" y="1950000"/>
            <a:ext cx="47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475569"/>
                </a:solidFill>
                <a:latin typeface="Calibri"/>
              </a:rPr>
              <a:t xml:space="preserve">Average latency: </a:t>
            </a:r>
            <a:r>
              <a:rPr sz="1300" b="1" i="0" lang="en-US">
                <a:solidFill>
                  <a:srgbClr val="1E293B"/>
                </a:solidFill>
                <a:latin typeface="Calibri"/>
              </a:rPr>
              <a:t>145 ns</a:t>
            </a:r>
          </a:p>
        </p:txBody>
      </p:sp>
      <p:sp>
        <p:nvSpPr>
          <p:cNvPr id="10" name="O3I1"/>
          <p:cNvSpPr txBox="1"/>
          <p:nvPr/>
        </p:nvSpPr>
        <p:spPr>
          <a:xfrm>
            <a:off x="640000" y="2420000"/>
            <a:ext cx="47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475569"/>
                </a:solidFill>
                <a:latin typeface="Calibri"/>
              </a:rPr>
              <a:t xml:space="preserve">Improvement over baseline: </a:t>
            </a:r>
            <a:r>
              <a:rPr sz="1300" b="1" i="0" lang="en-US">
                <a:solidFill>
                  <a:srgbClr val="1E293B"/>
                </a:solidFill>
                <a:latin typeface="Calibri"/>
              </a:rPr>
              <a:t>~28%</a:t>
            </a:r>
          </a:p>
        </p:txBody>
      </p:sp>
      <p:sp>
        <p:nvSpPr>
          <p:cNvPr id="11" name="O3I2"/>
          <p:cNvSpPr txBox="1"/>
          <p:nvPr/>
        </p:nvSpPr>
        <p:spPr>
          <a:xfrm>
            <a:off x="640000" y="2890000"/>
            <a:ext cx="47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475569"/>
                </a:solidFill>
                <a:latin typeface="Calibri"/>
              </a:rPr>
              <a:t xml:space="preserve">Pass strategy: </a:t>
            </a:r>
            <a:r>
              <a:rPr sz="1300" b="1" i="0" lang="en-US">
                <a:solidFill>
                  <a:srgbClr val="1E293B"/>
                </a:solidFill>
                <a:latin typeface="Calibri"/>
              </a:rPr>
              <a:t>Fixed sequence</a:t>
            </a:r>
          </a:p>
        </p:txBody>
      </p:sp>
      <p:sp>
        <p:nvSpPr>
          <p:cNvPr id="12" name="O3I3"/>
          <p:cNvSpPr txBox="1"/>
          <p:nvPr/>
        </p:nvSpPr>
        <p:spPr>
          <a:xfrm>
            <a:off x="640000" y="3360000"/>
            <a:ext cx="47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475569"/>
                </a:solidFill>
                <a:latin typeface="Calibri"/>
              </a:rPr>
              <a:t xml:space="preserve">Anti-pattern detection: </a:t>
            </a:r>
            <a:r>
              <a:rPr sz="1300" b="1" i="0" lang="en-US">
                <a:solidFill>
                  <a:srgbClr val="DC2626"/>
                </a:solidFill>
                <a:latin typeface="Calibri"/>
              </a:rPr>
              <a:t>Not available</a:t>
            </a:r>
          </a:p>
        </p:txBody>
      </p:sp>
      <p:sp>
        <p:nvSpPr>
          <p:cNvPr id="13" name="O3I4"/>
          <p:cNvSpPr txBox="1"/>
          <p:nvPr/>
        </p:nvSpPr>
        <p:spPr>
          <a:xfrm>
            <a:off x="640000" y="3830000"/>
            <a:ext cx="47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475569"/>
                </a:solidFill>
                <a:latin typeface="Calibri"/>
              </a:rPr>
              <a:t xml:space="preserve">Function-level retry: </a:t>
            </a:r>
            <a:r>
              <a:rPr sz="1300" b="1" i="0" lang="en-US">
                <a:solidFill>
                  <a:srgbClr val="DC2626"/>
                </a:solidFill>
                <a:latin typeface="Calibri"/>
              </a:rPr>
              <a:t>Not available</a:t>
            </a:r>
          </a:p>
        </p:txBody>
      </p:sp>
      <p:sp>
        <p:nvSpPr>
          <p:cNvPr id="14" name="O3I5"/>
          <p:cNvSpPr txBox="1"/>
          <p:nvPr/>
        </p:nvSpPr>
        <p:spPr>
          <a:xfrm>
            <a:off x="640000" y="4300000"/>
            <a:ext cx="47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475569"/>
                </a:solidFill>
                <a:latin typeface="Calibri"/>
              </a:rPr>
              <a:t xml:space="preserve">HOT/COLD classification: </a:t>
            </a:r>
            <a:r>
              <a:rPr sz="1300" b="1" i="0" lang="en-US">
                <a:solidFill>
                  <a:srgbClr val="DC2626"/>
                </a:solidFill>
                <a:latin typeface="Calibri"/>
              </a:rPr>
              <a:t>Not available</a:t>
            </a:r>
          </a:p>
        </p:txBody>
      </p:sp>
      <p:sp>
        <p:nvSpPr>
          <p:cNvPr id="15" name="O3I6"/>
          <p:cNvSpPr txBox="1"/>
          <p:nvPr/>
        </p:nvSpPr>
        <p:spPr>
          <a:xfrm>
            <a:off x="640000" y="4770000"/>
            <a:ext cx="47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475569"/>
                </a:solidFill>
                <a:latin typeface="Calibri"/>
              </a:rPr>
              <a:t xml:space="preserve">Explainability: </a:t>
            </a:r>
            <a:r>
              <a:rPr sz="1300" b="1" i="0" lang="en-US">
                <a:solidFill>
                  <a:srgbClr val="DC2626"/>
                </a:solidFill>
                <a:latin typeface="Calibri"/>
              </a:rPr>
              <a:t>None</a:t>
            </a:r>
          </a:p>
        </p:txBody>
      </p:sp>
      <p:sp>
        <p:nvSpPr>
          <p:cNvPr id="21" name="AGBox"/>
          <p:cNvSpPr/>
          <p:nvPr/>
        </p:nvSpPr>
        <p:spPr>
          <a:xfrm>
            <a:off x="6600000" y="1450000"/>
            <a:ext cx="5140000" cy="4600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AGHdr"/>
          <p:cNvSpPr/>
          <p:nvPr/>
        </p:nvSpPr>
        <p:spPr>
          <a:xfrm>
            <a:off x="6600000" y="1450000"/>
            <a:ext cx="5140000" cy="360000"/>
          </a:xfrm>
          <a:prstGeom prst="rect">
            <a:avLst/>
          </a:prstGeom>
          <a:solidFill>
            <a:srgbClr val="16A34A33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AGT"/>
          <p:cNvSpPr txBox="1"/>
          <p:nvPr/>
        </p:nvSpPr>
        <p:spPr>
          <a:xfrm>
            <a:off x="6800000" y="1490000"/>
            <a:ext cx="4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lang="en-US">
                <a:solidFill>
                  <a:srgbClr val="16A34A"/>
                </a:solidFill>
                <a:latin typeface="Calibri"/>
              </a:rPr>
              <a:t>AGentic_C</a:t>
            </a:r>
          </a:p>
        </p:txBody>
      </p:sp>
      <p:sp>
        <p:nvSpPr>
          <p:cNvPr id="24" name="AGI0"/>
          <p:cNvSpPr txBox="1"/>
          <p:nvPr/>
        </p:nvSpPr>
        <p:spPr>
          <a:xfrm>
            <a:off x="6800000" y="1950000"/>
            <a:ext cx="47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475569"/>
                </a:solidFill>
                <a:latin typeface="Calibri"/>
              </a:rPr>
              <a:t xml:space="preserve">Average latency: </a:t>
            </a:r>
            <a:r>
              <a:rPr sz="1300" b="1" i="0" lang="en-US">
                <a:solidFill>
                  <a:srgbClr val="1E293B"/>
                </a:solidFill>
                <a:latin typeface="Calibri"/>
              </a:rPr>
              <a:t>97 ns</a:t>
            </a:r>
          </a:p>
        </p:txBody>
      </p:sp>
      <p:sp>
        <p:nvSpPr>
          <p:cNvPr id="25" name="AGI1"/>
          <p:cNvSpPr txBox="1"/>
          <p:nvPr/>
        </p:nvSpPr>
        <p:spPr>
          <a:xfrm>
            <a:off x="6800000" y="2420000"/>
            <a:ext cx="47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475569"/>
                </a:solidFill>
                <a:latin typeface="Calibri"/>
              </a:rPr>
              <a:t xml:space="preserve">Improvement over baseline: </a:t>
            </a:r>
            <a:r>
              <a:rPr sz="1300" b="1" i="0" lang="en-US">
                <a:solidFill>
                  <a:srgbClr val="1E293B"/>
                </a:solidFill>
                <a:latin typeface="Calibri"/>
              </a:rPr>
              <a:t>41.2%</a:t>
            </a:r>
          </a:p>
        </p:txBody>
      </p:sp>
      <p:sp>
        <p:nvSpPr>
          <p:cNvPr id="26" name="AGI2"/>
          <p:cNvSpPr txBox="1"/>
          <p:nvPr/>
        </p:nvSpPr>
        <p:spPr>
          <a:xfrm>
            <a:off x="6800000" y="2890000"/>
            <a:ext cx="47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475569"/>
                </a:solidFill>
                <a:latin typeface="Calibri"/>
              </a:rPr>
              <a:t xml:space="preserve">Pass strategy: </a:t>
            </a:r>
            <a:r>
              <a:rPr sz="1300" b="1" i="0" lang="en-US">
                <a:solidFill>
                  <a:srgbClr val="1E293B"/>
                </a:solidFill>
                <a:latin typeface="Calibri"/>
              </a:rPr>
              <a:t>Adaptive phase-order</a:t>
            </a:r>
          </a:p>
        </p:txBody>
      </p:sp>
      <p:sp>
        <p:nvSpPr>
          <p:cNvPr id="27" name="AGI3"/>
          <p:cNvSpPr txBox="1"/>
          <p:nvPr/>
        </p:nvSpPr>
        <p:spPr>
          <a:xfrm>
            <a:off x="6800000" y="3360000"/>
            <a:ext cx="47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475569"/>
                </a:solidFill>
                <a:latin typeface="Calibri"/>
              </a:rPr>
              <a:t xml:space="preserve">Anti-pattern detection: </a:t>
            </a:r>
            <a:r>
              <a:rPr sz="1300" b="1" i="0" lang="en-US">
                <a:solidFill>
                  <a:srgbClr val="16A34A"/>
                </a:solidFill>
                <a:latin typeface="Calibri"/>
              </a:rPr>
              <a:t>LAP-001–010</a:t>
            </a:r>
          </a:p>
        </p:txBody>
      </p:sp>
      <p:sp>
        <p:nvSpPr>
          <p:cNvPr id="28" name="AGI4"/>
          <p:cNvSpPr txBox="1"/>
          <p:nvPr/>
        </p:nvSpPr>
        <p:spPr>
          <a:xfrm>
            <a:off x="6800000" y="3830000"/>
            <a:ext cx="47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475569"/>
                </a:solidFill>
                <a:latin typeface="Calibri"/>
              </a:rPr>
              <a:t xml:space="preserve">Function-level retry: </a:t>
            </a:r>
            <a:r>
              <a:rPr sz="1300" b="1" i="0" lang="en-US">
                <a:solidFill>
                  <a:srgbClr val="16A34A"/>
                </a:solidFill>
                <a:latin typeface="Calibri"/>
              </a:rPr>
              <a:t>Up to 3 cycles</a:t>
            </a:r>
          </a:p>
        </p:txBody>
      </p:sp>
      <p:sp>
        <p:nvSpPr>
          <p:cNvPr id="29" name="AGI5"/>
          <p:cNvSpPr txBox="1"/>
          <p:nvPr/>
        </p:nvSpPr>
        <p:spPr>
          <a:xfrm>
            <a:off x="6800000" y="4300000"/>
            <a:ext cx="47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475569"/>
                </a:solidFill>
                <a:latin typeface="Calibri"/>
              </a:rPr>
              <a:t xml:space="preserve">HOT/COLD classification: </a:t>
            </a:r>
            <a:r>
              <a:rPr sz="1300" b="1" i="0" lang="en-US">
                <a:solidFill>
                  <a:srgbClr val="16A34A"/>
                </a:solidFill>
                <a:latin typeface="Calibri"/>
              </a:rPr>
              <a:t>Scored 0–100</a:t>
            </a:r>
          </a:p>
        </p:txBody>
      </p:sp>
      <p:sp>
        <p:nvSpPr>
          <p:cNvPr id="30" name="AGI6"/>
          <p:cNvSpPr txBox="1"/>
          <p:nvPr/>
        </p:nvSpPr>
        <p:spPr>
          <a:xfrm>
            <a:off x="6800000" y="4770000"/>
            <a:ext cx="47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475569"/>
                </a:solidFill>
                <a:latin typeface="Calibri"/>
              </a:rPr>
              <a:t xml:space="preserve">Explainability: </a:t>
            </a:r>
            <a:r>
              <a:rPr sz="1300" b="1" i="0" lang="en-US">
                <a:solidFill>
                  <a:srgbClr val="16A34A"/>
                </a:solidFill>
                <a:latin typeface="Calibri"/>
              </a:rPr>
              <a:t>Full NL rationale</a:t>
            </a:r>
          </a:p>
        </p:txBody>
      </p:sp>
      <p:sp>
        <p:nvSpPr>
          <p:cNvPr id="36" name="KeyBox"/>
          <p:cNvSpPr/>
          <p:nvPr/>
        </p:nvSpPr>
        <p:spPr>
          <a:xfrm>
            <a:off x="457200" y="6200000"/>
            <a:ext cx="11278800" cy="40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KeyTxt"/>
          <p:cNvSpPr txBox="1"/>
          <p:nvPr/>
        </p:nvSpPr>
        <p:spPr>
          <a:xfrm>
            <a:off x="640000" y="6240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lang="en-US">
                <a:solidFill>
                  <a:srgbClr val="FFFFFF"/>
                </a:solidFill>
                <a:latin typeface="Calibri"/>
              </a:rPr>
              <a:t>AGentic_C achieves 33.4% lower latency than standard -O3 on the simulated hot path  (145 ns → 97 ns)</a:t>
            </a:r>
          </a:p>
        </p:txBody>
      </p:sp>
      <p:sp>
        <p:nvSpPr>
          <p:cNvPr id="41" name="Footer"/>
          <p:cNvSpPr txBox="1"/>
          <p:nvPr/>
        </p:nvSpPr>
        <p:spPr>
          <a:xfrm>
            <a:off x="10800000" y="6706800"/>
            <a:ext cx="12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lang="en-US">
                <a:solidFill>
                  <a:srgbClr val="94A3B8"/>
                </a:solidFill>
                <a:latin typeface="Calibri"/>
              </a:rPr>
              <a:t>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457200" y="457200"/>
            <a:ext cx="54864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ectionLabel"/>
          <p:cNvSpPr txBox="1"/>
          <p:nvPr/>
        </p:nvSpPr>
        <p:spPr>
          <a:xfrm>
            <a:off x="548640" y="457200"/>
            <a:ext cx="40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lang="en-US">
                <a:solidFill>
                  <a:srgbClr val="2563EB"/>
                </a:solidFill>
                <a:latin typeface="Calibri"/>
              </a:rPr>
              <a:t>EVALUATION</a:t>
            </a:r>
          </a:p>
        </p:txBody>
      </p:sp>
      <p:sp>
        <p:nvSpPr>
          <p:cNvPr id="4" name="SlideTitle"/>
          <p:cNvSpPr txBox="1"/>
          <p:nvPr/>
        </p:nvSpPr>
        <p:spPr>
          <a:xfrm>
            <a:off x="548640" y="685800"/>
            <a:ext cx="1110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lang="en-US">
                <a:solidFill>
                  <a:srgbClr val="1E293B"/>
                </a:solidFill>
                <a:latin typeface="Calibri"/>
              </a:rPr>
              <a:t>Phase-Order Exploration — Sequence Comparison</a:t>
            </a:r>
          </a:p>
        </p:txBody>
      </p:sp>
      <p:sp>
        <p:nvSpPr>
          <p:cNvPr id="5" name="TitleDivider"/>
          <p:cNvSpPr/>
          <p:nvPr/>
        </p:nvSpPr>
        <p:spPr>
          <a:xfrm>
            <a:off x="457200" y="1280160"/>
            <a:ext cx="112788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BG0"/>
          <p:cNvSpPr/>
          <p:nvPr/>
        </p:nvSpPr>
        <p:spPr>
          <a:xfrm>
            <a:off x="457200" y="1550000"/>
            <a:ext cx="11278800" cy="68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Bar0"/>
          <p:cNvSpPr/>
          <p:nvPr/>
        </p:nvSpPr>
        <p:spPr>
          <a:xfrm>
            <a:off x="1800000" y="1710000"/>
            <a:ext cx="7050000" cy="3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Lbl0"/>
          <p:cNvSpPr txBox="1"/>
          <p:nvPr/>
        </p:nvSpPr>
        <p:spPr>
          <a:xfrm>
            <a:off x="620000" y="1750000"/>
            <a:ext cx="1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lang="en-US">
                <a:solidFill>
                  <a:srgbClr val="1E3A5F"/>
                </a:solidFill>
                <a:latin typeface="Calibri"/>
              </a:rPr>
              <a:t>SEQ-1  Mem-First</a:t>
            </a:r>
          </a:p>
        </p:txBody>
      </p:sp>
      <p:sp>
        <p:nvSpPr>
          <p:cNvPr id="9" name="Val0"/>
          <p:cNvSpPr txBox="1"/>
          <p:nvPr/>
        </p:nvSpPr>
        <p:spPr>
          <a:xfrm>
            <a:off x="8870000" y="1750000"/>
            <a:ext cx="2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lang="en-US">
                <a:solidFill>
                  <a:srgbClr val="16A34A"/>
                </a:solidFill>
                <a:latin typeface="Calibri"/>
              </a:rPr>
              <a:t>94 ns — WINNER</a:t>
            </a:r>
          </a:p>
        </p:txBody>
      </p:sp>
      <p:sp>
        <p:nvSpPr>
          <p:cNvPr id="10" name="BG1"/>
          <p:cNvSpPr/>
          <p:nvPr/>
        </p:nvSpPr>
        <p:spPr>
          <a:xfrm>
            <a:off x="457200" y="2400000"/>
            <a:ext cx="11278800" cy="68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Bar1"/>
          <p:cNvSpPr/>
          <p:nvPr/>
        </p:nvSpPr>
        <p:spPr>
          <a:xfrm>
            <a:off x="1800000" y="2560000"/>
            <a:ext cx="8400000" cy="360000"/>
          </a:xfrm>
          <a:prstGeom prst="rect">
            <a:avLst/>
          </a:prstGeom>
          <a:solidFill>
            <a:srgbClr val="2563EB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Lbl1"/>
          <p:cNvSpPr txBox="1"/>
          <p:nvPr/>
        </p:nvSpPr>
        <p:spPr>
          <a:xfrm>
            <a:off x="620000" y="2600000"/>
            <a:ext cx="1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475569"/>
                </a:solidFill>
                <a:latin typeface="Calibri"/>
              </a:rPr>
              <a:t>SEQ-2  Inline-First</a:t>
            </a:r>
          </a:p>
        </p:txBody>
      </p:sp>
      <p:sp>
        <p:nvSpPr>
          <p:cNvPr id="13" name="Val1"/>
          <p:cNvSpPr txBox="1"/>
          <p:nvPr/>
        </p:nvSpPr>
        <p:spPr>
          <a:xfrm>
            <a:off x="10220000" y="2600000"/>
            <a:ext cx="2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475569"/>
                </a:solidFill>
                <a:latin typeface="Calibri"/>
              </a:rPr>
              <a:t>112 ns</a:t>
            </a:r>
          </a:p>
        </p:txBody>
      </p:sp>
      <p:sp>
        <p:nvSpPr>
          <p:cNvPr id="14" name="BG2"/>
          <p:cNvSpPr/>
          <p:nvPr/>
        </p:nvSpPr>
        <p:spPr>
          <a:xfrm>
            <a:off x="457200" y="3250000"/>
            <a:ext cx="11278800" cy="68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Bar2"/>
          <p:cNvSpPr/>
          <p:nvPr/>
        </p:nvSpPr>
        <p:spPr>
          <a:xfrm>
            <a:off x="1800000" y="3410000"/>
            <a:ext cx="7725000" cy="360000"/>
          </a:xfrm>
          <a:prstGeom prst="rect">
            <a:avLst/>
          </a:prstGeom>
          <a:solidFill>
            <a:srgbClr val="0891B2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Lbl2"/>
          <p:cNvSpPr txBox="1"/>
          <p:nvPr/>
        </p:nvSpPr>
        <p:spPr>
          <a:xfrm>
            <a:off x="620000" y="3450000"/>
            <a:ext cx="1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475569"/>
                </a:solidFill>
                <a:latin typeface="Calibri"/>
              </a:rPr>
              <a:t>SEQ-3  Loop-First</a:t>
            </a:r>
          </a:p>
        </p:txBody>
      </p:sp>
      <p:sp>
        <p:nvSpPr>
          <p:cNvPr id="17" name="Val2"/>
          <p:cNvSpPr txBox="1"/>
          <p:nvPr/>
        </p:nvSpPr>
        <p:spPr>
          <a:xfrm>
            <a:off x="9545000" y="3450000"/>
            <a:ext cx="2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475569"/>
                </a:solidFill>
                <a:latin typeface="Calibri"/>
              </a:rPr>
              <a:t>103 ns</a:t>
            </a:r>
          </a:p>
        </p:txBody>
      </p:sp>
      <p:sp>
        <p:nvSpPr>
          <p:cNvPr id="18" name="BG3"/>
          <p:cNvSpPr/>
          <p:nvPr/>
        </p:nvSpPr>
        <p:spPr>
          <a:xfrm>
            <a:off x="457200" y="4100000"/>
            <a:ext cx="11278800" cy="68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Bar3"/>
          <p:cNvSpPr/>
          <p:nvPr/>
        </p:nvSpPr>
        <p:spPr>
          <a:xfrm>
            <a:off x="1800000" y="4260000"/>
            <a:ext cx="7575000" cy="360000"/>
          </a:xfrm>
          <a:prstGeom prst="rect">
            <a:avLst/>
          </a:prstGeom>
          <a:solidFill>
            <a:srgbClr val="D977068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Lbl3"/>
          <p:cNvSpPr txBox="1"/>
          <p:nvPr/>
        </p:nvSpPr>
        <p:spPr>
          <a:xfrm>
            <a:off x="620000" y="4300000"/>
            <a:ext cx="1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475569"/>
                </a:solidFill>
                <a:latin typeface="Calibri"/>
              </a:rPr>
              <a:t>SEQ-4  AP-Targeted</a:t>
            </a:r>
          </a:p>
        </p:txBody>
      </p:sp>
      <p:sp>
        <p:nvSpPr>
          <p:cNvPr id="21" name="Val3"/>
          <p:cNvSpPr txBox="1"/>
          <p:nvPr/>
        </p:nvSpPr>
        <p:spPr>
          <a:xfrm>
            <a:off x="9395000" y="4300000"/>
            <a:ext cx="2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475569"/>
                </a:solidFill>
                <a:latin typeface="Calibri"/>
              </a:rPr>
              <a:t>101 ns</a:t>
            </a:r>
          </a:p>
        </p:txBody>
      </p:sp>
      <p:sp>
        <p:nvSpPr>
          <p:cNvPr id="22" name="BG4"/>
          <p:cNvSpPr/>
          <p:nvPr/>
        </p:nvSpPr>
        <p:spPr>
          <a:xfrm>
            <a:off x="457200" y="4950000"/>
            <a:ext cx="11278800" cy="68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Bar4"/>
          <p:cNvSpPr/>
          <p:nvPr/>
        </p:nvSpPr>
        <p:spPr>
          <a:xfrm>
            <a:off x="1800000" y="5110000"/>
            <a:ext cx="7350000" cy="360000"/>
          </a:xfrm>
          <a:prstGeom prst="rect">
            <a:avLst/>
          </a:prstGeom>
          <a:solidFill>
            <a:srgbClr val="7C3AED88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Lbl4"/>
          <p:cNvSpPr txBox="1"/>
          <p:nvPr/>
        </p:nvSpPr>
        <p:spPr>
          <a:xfrm>
            <a:off x="620000" y="5150000"/>
            <a:ext cx="1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475569"/>
                </a:solidFill>
                <a:latin typeface="Calibri"/>
              </a:rPr>
              <a:t>SEQ-5  Aggressive</a:t>
            </a:r>
          </a:p>
        </p:txBody>
      </p:sp>
      <p:sp>
        <p:nvSpPr>
          <p:cNvPr id="25" name="Val4"/>
          <p:cNvSpPr txBox="1"/>
          <p:nvPr/>
        </p:nvSpPr>
        <p:spPr>
          <a:xfrm>
            <a:off x="9170000" y="5150000"/>
            <a:ext cx="2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475569"/>
                </a:solidFill>
                <a:latin typeface="Calibri"/>
              </a:rPr>
              <a:t>98 ns</a:t>
            </a:r>
          </a:p>
        </p:txBody>
      </p:sp>
      <p:sp>
        <p:nvSpPr>
          <p:cNvPr id="31" name="Note"/>
          <p:cNvSpPr txBox="1"/>
          <p:nvPr/>
        </p:nvSpPr>
        <p:spPr>
          <a:xfrm>
            <a:off x="457200" y="5900000"/>
            <a:ext cx="112788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 lang="en-US">
                <a:solidFill>
                  <a:srgbClr val="475569"/>
                </a:solidFill>
                <a:latin typeface="Calibri"/>
              </a:rPr>
              <a:t>Exploration overhead: 5 × (budget_steps/2) steps — completed before the main optimisation loop; negligible wall-clock impact.</a:t>
            </a:r>
          </a:p>
        </p:txBody>
      </p:sp>
      <p:sp>
        <p:nvSpPr>
          <p:cNvPr id="32" name="Footer"/>
          <p:cNvSpPr txBox="1"/>
          <p:nvPr/>
        </p:nvSpPr>
        <p:spPr>
          <a:xfrm>
            <a:off x="10800000" y="6706800"/>
            <a:ext cx="12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lang="en-US">
                <a:solidFill>
                  <a:srgbClr val="94A3B8"/>
                </a:solidFill>
                <a:latin typeface="Calibri"/>
              </a:rPr>
              <a:t>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457200" y="457200"/>
            <a:ext cx="54864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ectionLabel"/>
          <p:cNvSpPr txBox="1"/>
          <p:nvPr/>
        </p:nvSpPr>
        <p:spPr>
          <a:xfrm>
            <a:off x="548640" y="457200"/>
            <a:ext cx="40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lang="en-US">
                <a:solidFill>
                  <a:srgbClr val="2563EB"/>
                </a:solidFill>
                <a:latin typeface="Calibri"/>
              </a:rPr>
              <a:t>CONCLUSION</a:t>
            </a:r>
          </a:p>
        </p:txBody>
      </p:sp>
      <p:sp>
        <p:nvSpPr>
          <p:cNvPr id="4" name="SlideTitle"/>
          <p:cNvSpPr txBox="1"/>
          <p:nvPr/>
        </p:nvSpPr>
        <p:spPr>
          <a:xfrm>
            <a:off x="548640" y="685800"/>
            <a:ext cx="1110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lang="en-US">
                <a:solidFill>
                  <a:srgbClr val="1E293B"/>
                </a:solidFill>
                <a:latin typeface="Calibri"/>
              </a:rPr>
              <a:t>Conclusion</a:t>
            </a:r>
          </a:p>
        </p:txBody>
      </p:sp>
      <p:sp>
        <p:nvSpPr>
          <p:cNvPr id="5" name="TitleDivider"/>
          <p:cNvSpPr/>
          <p:nvPr/>
        </p:nvSpPr>
        <p:spPr>
          <a:xfrm>
            <a:off x="457200" y="1280160"/>
            <a:ext cx="112788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ummary"/>
          <p:cNvSpPr txBox="1"/>
          <p:nvPr/>
        </p:nvSpPr>
        <p:spPr>
          <a:xfrm>
            <a:off x="457200" y="1420000"/>
            <a:ext cx="112788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lang="en-US">
                <a:solidFill>
                  <a:srgbClr val="1E293B"/>
                </a:solidFill>
                <a:latin typeface="Calibri"/>
              </a:rPr>
              <a:t>AGentic_C demonstrates that agent-based, domain-aware compilation consistently outperforms standard -O3 on HFT workloads.</a:t>
            </a:r>
          </a:p>
        </p:txBody>
      </p:sp>
      <p:sp>
        <p:nvSpPr>
          <p:cNvPr id="7" name="C0Bar"/>
          <p:cNvSpPr/>
          <p:nvPr/>
        </p:nvSpPr>
        <p:spPr>
          <a:xfrm>
            <a:off x="457200" y="2100000"/>
            <a:ext cx="18000" cy="82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C0T"/>
          <p:cNvSpPr txBox="1"/>
          <p:nvPr/>
        </p:nvSpPr>
        <p:spPr>
          <a:xfrm>
            <a:off x="620000" y="2140000"/>
            <a:ext cx="111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lang="en-US">
                <a:solidFill>
                  <a:srgbClr val="16A34A"/>
                </a:solidFill>
                <a:latin typeface="Calibri"/>
              </a:rPr>
              <a:t>Anti-Pattern Detection</a:t>
            </a:r>
          </a:p>
        </p:txBody>
      </p:sp>
      <p:sp>
        <p:nvSpPr>
          <p:cNvPr id="9" name="C0D"/>
          <p:cNvSpPr txBox="1"/>
          <p:nvPr/>
        </p:nvSpPr>
        <p:spPr>
          <a:xfrm>
            <a:off x="620000" y="2460000"/>
            <a:ext cx="111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>The LAP-001–010 taxonomy resolves heap allocations, virtual dispatch, and system calls that -O3 cannot address, targeting root-cause latency sources.</a:t>
            </a:r>
          </a:p>
        </p:txBody>
      </p:sp>
      <p:sp>
        <p:nvSpPr>
          <p:cNvPr id="10" name="C1Bar"/>
          <p:cNvSpPr/>
          <p:nvPr/>
        </p:nvSpPr>
        <p:spPr>
          <a:xfrm>
            <a:off x="457200" y="3150000"/>
            <a:ext cx="18000" cy="82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C1T"/>
          <p:cNvSpPr txBox="1"/>
          <p:nvPr/>
        </p:nvSpPr>
        <p:spPr>
          <a:xfrm>
            <a:off x="620000" y="3190000"/>
            <a:ext cx="111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lang="en-US">
                <a:solidFill>
                  <a:srgbClr val="2563EB"/>
                </a:solidFill>
                <a:latin typeface="Calibri"/>
              </a:rPr>
              <a:t>Phase-Order Optimisation</a:t>
            </a:r>
          </a:p>
        </p:txBody>
      </p:sp>
      <p:sp>
        <p:nvSpPr>
          <p:cNvPr id="12" name="C1D"/>
          <p:cNvSpPr txBox="1"/>
          <p:nvPr/>
        </p:nvSpPr>
        <p:spPr>
          <a:xfrm>
            <a:off x="620000" y="3510000"/>
            <a:ext cx="111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>A five-sequence exploration strategy identifies the optimal LLVM pass ordering without RL training, delivering an average 41.2% latency improvement.</a:t>
            </a:r>
          </a:p>
        </p:txBody>
      </p:sp>
      <p:sp>
        <p:nvSpPr>
          <p:cNvPr id="13" name="C2Bar"/>
          <p:cNvSpPr/>
          <p:nvPr/>
        </p:nvSpPr>
        <p:spPr>
          <a:xfrm>
            <a:off x="457200" y="4200000"/>
            <a:ext cx="18000" cy="82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2T"/>
          <p:cNvSpPr txBox="1"/>
          <p:nvPr/>
        </p:nvSpPr>
        <p:spPr>
          <a:xfrm>
            <a:off x="620000" y="4240000"/>
            <a:ext cx="111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lang="en-US">
                <a:solidFill>
                  <a:srgbClr val="7C3AED"/>
                </a:solidFill>
                <a:latin typeface="Calibri"/>
              </a:rPr>
              <a:t>Full Explainability</a:t>
            </a:r>
          </a:p>
        </p:txBody>
      </p:sp>
      <p:sp>
        <p:nvSpPr>
          <p:cNvPr id="15" name="C2D"/>
          <p:cNvSpPr txBox="1"/>
          <p:nvPr/>
        </p:nvSpPr>
        <p:spPr>
          <a:xfrm>
            <a:off x="620000" y="4560000"/>
            <a:ext cx="111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>Every optimisation choice produces a natural-language justification, making the system accessible to students, engineers, and researchers alike.</a:t>
            </a:r>
          </a:p>
        </p:txBody>
      </p:sp>
      <p:sp>
        <p:nvSpPr>
          <p:cNvPr id="16" name="C3Bar"/>
          <p:cNvSpPr/>
          <p:nvPr/>
        </p:nvSpPr>
        <p:spPr>
          <a:xfrm>
            <a:off x="457200" y="5250000"/>
            <a:ext cx="18000" cy="82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C3T"/>
          <p:cNvSpPr txBox="1"/>
          <p:nvPr/>
        </p:nvSpPr>
        <p:spPr>
          <a:xfrm>
            <a:off x="620000" y="5290000"/>
            <a:ext cx="111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lang="en-US">
                <a:solidFill>
                  <a:srgbClr val="D97706"/>
                </a:solidFill>
                <a:latin typeface="Calibri"/>
              </a:rPr>
              <a:t>Beginner-Friendly Deployment</a:t>
            </a:r>
          </a:p>
        </p:txBody>
      </p:sp>
      <p:sp>
        <p:nvSpPr>
          <p:cNvPr id="18" name="C3D"/>
          <p:cNvSpPr txBox="1"/>
          <p:nvPr/>
        </p:nvSpPr>
        <p:spPr>
          <a:xfrm>
            <a:off x="620000" y="5610000"/>
            <a:ext cx="111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>The entire system runs on any Mac or Linux machine with pip install numpy pyyaml — no GPU, no real LLVM back-end, no compiler infrastructure required.</a:t>
            </a:r>
          </a:p>
        </p:txBody>
      </p:sp>
      <p:sp>
        <p:nvSpPr>
          <p:cNvPr id="21" name="Footer"/>
          <p:cNvSpPr txBox="1"/>
          <p:nvPr/>
        </p:nvSpPr>
        <p:spPr>
          <a:xfrm>
            <a:off x="10800000" y="6706800"/>
            <a:ext cx="12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lang="en-US">
                <a:solidFill>
                  <a:srgbClr val="94A3B8"/>
                </a:solidFill>
                <a:latin typeface="Calibri"/>
              </a:rPr>
              <a:t>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457200" y="457200"/>
            <a:ext cx="54864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ectionLabel"/>
          <p:cNvSpPr txBox="1"/>
          <p:nvPr/>
        </p:nvSpPr>
        <p:spPr>
          <a:xfrm>
            <a:off x="548640" y="457200"/>
            <a:ext cx="40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lang="en-US">
                <a:solidFill>
                  <a:srgbClr val="2563EB"/>
                </a:solidFill>
                <a:latin typeface="Calibri"/>
              </a:rPr>
              <a:t>FUTURE WORK</a:t>
            </a:r>
          </a:p>
        </p:txBody>
      </p:sp>
      <p:sp>
        <p:nvSpPr>
          <p:cNvPr id="4" name="SlideTitle"/>
          <p:cNvSpPr txBox="1"/>
          <p:nvPr/>
        </p:nvSpPr>
        <p:spPr>
          <a:xfrm>
            <a:off x="548640" y="685800"/>
            <a:ext cx="1110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lang="en-US">
                <a:solidFill>
                  <a:srgbClr val="1E293B"/>
                </a:solidFill>
                <a:latin typeface="Calibri"/>
              </a:rPr>
              <a:t>Planned Enhancements</a:t>
            </a:r>
          </a:p>
        </p:txBody>
      </p:sp>
      <p:sp>
        <p:nvSpPr>
          <p:cNvPr id="5" name="TitleDivider"/>
          <p:cNvSpPr/>
          <p:nvPr/>
        </p:nvSpPr>
        <p:spPr>
          <a:xfrm>
            <a:off x="457200" y="1280160"/>
            <a:ext cx="112788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I0Circle"/>
          <p:cNvSpPr/>
          <p:nvPr/>
        </p:nvSpPr>
        <p:spPr>
          <a:xfrm>
            <a:off x="457200" y="1600000"/>
            <a:ext cx="41148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I0T"/>
          <p:cNvSpPr txBox="1"/>
          <p:nvPr/>
        </p:nvSpPr>
        <p:spPr>
          <a:xfrm>
            <a:off x="1050000" y="1560000"/>
            <a:ext cx="111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lang="en-US">
                <a:solidFill>
                  <a:srgbClr val="1E3A5F"/>
                </a:solidFill>
                <a:latin typeface="Calibri"/>
              </a:rPr>
              <a:t>Trained PPO Policy</a:t>
            </a:r>
          </a:p>
        </p:txBody>
      </p:sp>
      <p:sp>
        <p:nvSpPr>
          <p:cNvPr id="8" name="I0D"/>
          <p:cNvSpPr txBox="1"/>
          <p:nvPr/>
        </p:nvSpPr>
        <p:spPr>
          <a:xfrm>
            <a:off x="1050000" y="1880000"/>
            <a:ext cx="111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>Replace heuristic phase ordering with a PPO agent trained across CompilerGym's 124-pass action space for data-driven sequence selection.</a:t>
            </a:r>
          </a:p>
        </p:txBody>
      </p:sp>
      <p:sp>
        <p:nvSpPr>
          <p:cNvPr id="9" name="I1Circle"/>
          <p:cNvSpPr/>
          <p:nvPr/>
        </p:nvSpPr>
        <p:spPr>
          <a:xfrm>
            <a:off x="457200" y="2600000"/>
            <a:ext cx="411480" cy="4114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I1T"/>
          <p:cNvSpPr txBox="1"/>
          <p:nvPr/>
        </p:nvSpPr>
        <p:spPr>
          <a:xfrm>
            <a:off x="1050000" y="2560000"/>
            <a:ext cx="111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lang="en-US">
                <a:solidFill>
                  <a:srgbClr val="1E3A5F"/>
                </a:solidFill>
                <a:latin typeface="Calibri"/>
              </a:rPr>
              <a:t>Real Hardware Latency</a:t>
            </a:r>
          </a:p>
        </p:txBody>
      </p:sp>
      <p:sp>
        <p:nvSpPr>
          <p:cNvPr id="11" name="I1D"/>
          <p:cNvSpPr txBox="1"/>
          <p:nvPr/>
        </p:nvSpPr>
        <p:spPr>
          <a:xfrm>
            <a:off x="1050000" y="2880000"/>
            <a:ext cx="111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>Substitute the LatencyCostModel with perf stat and IACA measurements taken on physical co-located HFT servers for accurate profiling.</a:t>
            </a:r>
          </a:p>
        </p:txBody>
      </p:sp>
      <p:sp>
        <p:nvSpPr>
          <p:cNvPr id="12" name="I2Circle"/>
          <p:cNvSpPr/>
          <p:nvPr/>
        </p:nvSpPr>
        <p:spPr>
          <a:xfrm>
            <a:off x="457200" y="3600000"/>
            <a:ext cx="41148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I2T"/>
          <p:cNvSpPr txBox="1"/>
          <p:nvPr/>
        </p:nvSpPr>
        <p:spPr>
          <a:xfrm>
            <a:off x="1050000" y="3560000"/>
            <a:ext cx="111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lang="en-US">
                <a:solidFill>
                  <a:srgbClr val="1E3A5F"/>
                </a:solidFill>
                <a:latin typeface="Calibri"/>
              </a:rPr>
              <a:t>ProGraML GNN Encoder</a:t>
            </a:r>
          </a:p>
        </p:txBody>
      </p:sp>
      <p:sp>
        <p:nvSpPr>
          <p:cNvPr id="14" name="I2D"/>
          <p:cNvSpPr txBox="1"/>
          <p:nvPr/>
        </p:nvSpPr>
        <p:spPr>
          <a:xfrm>
            <a:off x="1050000" y="3880000"/>
            <a:ext cx="111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>Implement a full graph neural network encoder to produce richer, structure-aware IR embeddings beyond the current static approximation.</a:t>
            </a:r>
          </a:p>
        </p:txBody>
      </p:sp>
      <p:sp>
        <p:nvSpPr>
          <p:cNvPr id="15" name="I3Circle"/>
          <p:cNvSpPr/>
          <p:nvPr/>
        </p:nvSpPr>
        <p:spPr>
          <a:xfrm>
            <a:off x="457200" y="4600000"/>
            <a:ext cx="411480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I3T"/>
          <p:cNvSpPr txBox="1"/>
          <p:nvPr/>
        </p:nvSpPr>
        <p:spPr>
          <a:xfrm>
            <a:off x="1050000" y="4560000"/>
            <a:ext cx="111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lang="en-US">
                <a:solidFill>
                  <a:srgbClr val="1E3A5F"/>
                </a:solidFill>
                <a:latin typeface="Calibri"/>
              </a:rPr>
              <a:t>Live Trading Integration</a:t>
            </a:r>
          </a:p>
        </p:txBody>
      </p:sp>
      <p:sp>
        <p:nvSpPr>
          <p:cNvPr id="17" name="I3D"/>
          <p:cNvSpPr txBox="1"/>
          <p:nvPr/>
        </p:nvSpPr>
        <p:spPr>
          <a:xfrm>
            <a:off x="1050000" y="4880000"/>
            <a:ext cx="111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>Connect the pipeline to a live market data feed and measure end-to-end tick-to-order latency under actual production conditions.</a:t>
            </a:r>
          </a:p>
        </p:txBody>
      </p:sp>
      <p:sp>
        <p:nvSpPr>
          <p:cNvPr id="18" name="I4Circle"/>
          <p:cNvSpPr/>
          <p:nvPr/>
        </p:nvSpPr>
        <p:spPr>
          <a:xfrm>
            <a:off x="457200" y="5600000"/>
            <a:ext cx="41148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I4T"/>
          <p:cNvSpPr txBox="1"/>
          <p:nvPr/>
        </p:nvSpPr>
        <p:spPr>
          <a:xfrm>
            <a:off x="1050000" y="5560000"/>
            <a:ext cx="111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lang="en-US">
                <a:solidFill>
                  <a:srgbClr val="1E3A5F"/>
                </a:solidFill>
                <a:latin typeface="Calibri"/>
              </a:rPr>
              <a:t>Kernel-Bypass Pass Extensions</a:t>
            </a:r>
          </a:p>
        </p:txBody>
      </p:sp>
      <p:sp>
        <p:nvSpPr>
          <p:cNvPr id="20" name="I4D"/>
          <p:cNvSpPr txBox="1"/>
          <p:nvPr/>
        </p:nvSpPr>
        <p:spPr>
          <a:xfrm>
            <a:off x="1050000" y="5880000"/>
            <a:ext cx="111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en-US">
                <a:solidFill>
                  <a:srgbClr val="1E293B"/>
                </a:solidFill>
                <a:latin typeface="Calibri"/>
              </a:rPr>
              <a:t>Expand the HW Tuner with DPDK and Solarflare OpenOnload-specific optimisation passes for ultra-low-latency networking paths.</a:t>
            </a:r>
          </a:p>
        </p:txBody>
      </p:sp>
      <p:sp>
        <p:nvSpPr>
          <p:cNvPr id="26" name="Footer"/>
          <p:cNvSpPr txBox="1"/>
          <p:nvPr/>
        </p:nvSpPr>
        <p:spPr>
          <a:xfrm>
            <a:off x="10800000" y="6706800"/>
            <a:ext cx="12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lang="en-US">
                <a:solidFill>
                  <a:srgbClr val="94A3B8"/>
                </a:solidFill>
                <a:latin typeface="Calibri"/>
              </a:rPr>
              <a:t>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Band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Y"/>
          <p:cNvSpPr txBox="1"/>
          <p:nvPr/>
        </p:nvSpPr>
        <p:spPr>
          <a:xfrm>
            <a:off x="548640" y="900000"/>
            <a:ext cx="111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 lang="en-US">
                <a:solidFill>
                  <a:srgbClr val="1E3A5F"/>
                </a:solidFill>
                <a:latin typeface="Calibri"/>
              </a:rPr>
              <a:t>Thank You</a:t>
            </a:r>
          </a:p>
        </p:txBody>
      </p:sp>
      <p:sp>
        <p:nvSpPr>
          <p:cNvPr id="4" name="Sub"/>
          <p:cNvSpPr txBox="1"/>
          <p:nvPr/>
        </p:nvSpPr>
        <p:spPr>
          <a:xfrm>
            <a:off x="548640" y="1900000"/>
            <a:ext cx="111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 lang="en-US">
                <a:solidFill>
                  <a:srgbClr val="475569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5" name="Div"/>
          <p:cNvSpPr/>
          <p:nvPr/>
        </p:nvSpPr>
        <p:spPr>
          <a:xfrm>
            <a:off x="3200400" y="2560000"/>
            <a:ext cx="5760720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Proj"/>
          <p:cNvSpPr txBox="1"/>
          <p:nvPr/>
        </p:nvSpPr>
        <p:spPr>
          <a:xfrm>
            <a:off x="548640" y="2700000"/>
            <a:ext cx="11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lang="en-US">
                <a:solidFill>
                  <a:srgbClr val="1E3A5F"/>
                </a:solidFill>
                <a:latin typeface="Calibri"/>
              </a:rPr>
              <a:t>AGentic_C — Agentic Compiler for High-Frequency Trading</a:t>
            </a:r>
          </a:p>
        </p:txBody>
      </p:sp>
      <p:sp>
        <p:nvSpPr>
          <p:cNvPr id="7" name="Cmd"/>
          <p:cNvSpPr txBox="1"/>
          <p:nvPr/>
        </p:nvSpPr>
        <p:spPr>
          <a:xfrm>
            <a:off x="548640" y="3200000"/>
            <a:ext cx="11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 lang="en-US">
                <a:solidFill>
                  <a:srgbClr val="1E293B"/>
                </a:solidFill>
                <a:latin typeface="Consolas"/>
              </a:rPr>
              <a:t>python3 src/pipeline.py --demo --web</a:t>
            </a:r>
          </a:p>
        </p:txBody>
      </p:sp>
      <p:sp>
        <p:nvSpPr>
          <p:cNvPr id="8" name="URL"/>
          <p:cNvSpPr txBox="1"/>
          <p:nvPr/>
        </p:nvSpPr>
        <p:spPr>
          <a:xfrm>
            <a:off x="548640" y="3650000"/>
            <a:ext cx="111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lang="en-US">
                <a:solidFill>
                  <a:srgbClr val="2563EB"/>
                </a:solidFill>
                <a:latin typeface="Calibri"/>
              </a:rPr>
              <a:t>Dashboard: http://localhost:5050</a:t>
            </a:r>
          </a:p>
        </p:txBody>
      </p:sp>
      <p:sp>
        <p:nvSpPr>
          <p:cNvPr id="9" name="Inst"/>
          <p:cNvSpPr txBox="1"/>
          <p:nvPr/>
        </p:nvSpPr>
        <p:spPr>
          <a:xfrm>
            <a:off x="548640" y="5800000"/>
            <a:ext cx="111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lang="en-US">
                <a:solidFill>
                  <a:srgbClr val="94A3B8"/>
                </a:solidFill>
                <a:latin typeface="Calibri"/>
              </a:rPr>
              <a:t>Submitted to: Prof. E. Suresh Babu  |  Department of CSE  |  NIT Warangal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10800000" y="6706800"/>
            <a:ext cx="12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lang="en-US">
                <a:solidFill>
                  <a:srgbClr val="94A3B8"/>
                </a:solidFill>
                <a:latin typeface="Calibri"/>
              </a:rPr>
              <a:t>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